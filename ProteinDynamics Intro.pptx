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61" r:id="rId3"/>
    <p:sldId id="262" r:id="rId4"/>
    <p:sldId id="264" r:id="rId5"/>
    <p:sldId id="263" r:id="rId6"/>
    <p:sldId id="260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4"/>
    <p:restoredTop sz="94719"/>
  </p:normalViewPr>
  <p:slideViewPr>
    <p:cSldViewPr snapToGrid="0" showGuides="1">
      <p:cViewPr>
        <p:scale>
          <a:sx n="102" d="100"/>
          <a:sy n="102" d="100"/>
        </p:scale>
        <p:origin x="1568" y="1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7FF9D-7855-7E49-B46D-CC476874716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3DC44-28AC-CE43-8758-D93345A7F1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5294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756A7-DDC0-40D9-8C6D-B6AC11FE1CF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262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3BA7B7-760D-AA0D-70DC-D0C1E2A4F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BB6A1FA-A5AD-FCAB-013E-12D2B1CEF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868D7C-1830-998B-4F3A-204D8942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F99A23-2273-21ED-49D4-1EFE246C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96F4A8-0E26-1B21-A800-3E7C518C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15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DED110-749E-08F0-8A32-F9D93D35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D6C849-1EC3-4A5D-4991-AFAAE4F09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9A5D9F-6373-F368-CF01-DF73609D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3D8EC5-B661-BBD0-3858-547F7135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9B4FA-3054-E209-99B0-737523B2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76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48A8FA-74DF-89E2-1C77-AA78DB3E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699A60-699E-4741-F779-F88E35928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C3DBBC-F10E-FCFF-C3CE-8B710E29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727B4E-B475-CD96-F02D-905F8272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1798D8-3715-A1C7-B3D5-D8D13C12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461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E46059-F460-7CA3-F04A-2B92E65A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48CB80-B29A-7785-1946-A48A4A8B4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265524F-9EF2-C77D-86BF-AF7852FC4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CD81B50-447F-3733-FFE5-BED56C6C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192BC7C-20F5-CAE0-2CAB-ADB228C4C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E0E3612-4120-AD0F-3088-574DD9F97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088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8C31AC-C88A-D96C-3854-9E14362F2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83EF6EF-BFE9-8ED9-F120-DEB775304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B2BB5F1-B0CF-CD3F-6D36-B38266A03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23D067A-42B6-A09B-FD7F-8B535D265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E1E53BE-BDFC-3F2E-142A-73EF71061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355BE6-7EE0-74E6-E5FA-62EC73EA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3D3EA3F-4EF9-F006-6089-27CFC9F0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77239EC-1C53-1F7B-C770-67E72A58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733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960D00-CA11-1285-E04F-74ACDDFD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50D99DC-2DA8-869A-B043-01BB9A2D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AE4BB2D-17CC-4901-3089-82DF40B5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914F754-F7EC-E3C4-2E29-A2BB97D6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896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55BF17C-315C-4767-BAA3-72F277E9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807758-2A35-E237-7ABF-78606568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CAEA71B-C95F-4271-CE12-3D46F762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7249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FD6D46-BB4E-ED79-20AE-BDDC4D53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CC9074-C32E-B2E5-E2DD-522431D1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C3C438D-66FF-439D-93DB-F86E18D39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4CBC760-5A0E-D152-4D9F-26E37E1F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565C72F-1C69-053A-CDF8-1A642CEA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3318174-2194-3640-1898-403B813FC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47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D7DE3B-4A28-03CC-E473-2069DC63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9295AA7-D53F-084B-442C-5E5E30445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CB51B56-73BF-3E75-869A-7E1E1453C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73FF7E4-B1E0-9D8F-9CE9-C2AF57F3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E850600-EEA2-8F24-D54A-DA556AC6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6DFD0E5-6299-D42C-A744-45C775C1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493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97AC9E-47FE-B964-B913-53CDC733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983EEE-ACD0-BFFB-CF87-05F2BC4C6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A8A1EF-9F95-E5C8-7E59-D1E87A08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CCD191-A766-0D77-ECCD-EA6B8EC4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1943A3-6593-BFBE-46F8-1E4647A4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212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5A0D3A8-FBB6-086A-D587-8E6D4E030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1D25252-65EB-AFB3-5622-01CCEFF97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A727F-2B9F-FFCC-E987-221DB1ADA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33FB81-2F91-255B-BBF4-B2F1C5E36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D66C79-352E-71FA-E207-B1E23FFC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6452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8B05BA-8696-0FB7-6AF5-3C2C76C75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CE1A9CB-6DF4-3C47-C09C-A437DD250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D9E479-BA69-93BB-6FD9-1BC3A606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048321-22D2-C83F-9FBF-A45AE4F6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D3686D-8E51-BCBF-4B77-386D41B6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6216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1D8104-6A9F-75DB-8F12-9830FE6E8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25C624-4F86-A1E2-2C92-015F122F2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9BD500-8AE2-4817-C29B-F5D0ADEC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BAEABB-4684-C6B0-9871-3EA933D0D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5BBECD-60E9-9391-7188-20039B69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286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448041-F76C-8335-DA59-C70FB8CB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41E40BE-E8D9-EED4-B54E-8E014032A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FCFB27-C77D-05F0-4A98-E6F4729F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BBEA7F-5547-48E2-5735-3088E076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4CFAD1-738D-8194-5B6B-0D469B88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7975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D8B416-306A-5F64-5FA6-091A335D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D6847C-201F-76FA-506C-81BEC6E20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9E8C08B-17E3-E173-EC0D-177594B7B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219A007-C219-8A0E-B65A-9FCC2C65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B66FA7-5DA2-7D63-F722-9AF85711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0A10D9B-8E7B-5221-8F36-8C888B7B9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6664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1F5122-1A12-F27E-0CDA-5FAAD6D2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18D7F0B-3765-E116-9D3A-92C6DEF6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3BFBB4B-B066-6A2C-B1DF-FCF240768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3455A98-EDF2-3D67-206F-2189AB513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D392C67-F405-DA15-7D56-B93AA7AE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253403D-738A-CF84-EDC3-08EBB07D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5F70475-D7DB-B800-838B-4A1FC095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1D508FD-5097-5660-D825-924410DC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2598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A5FF13-DADE-8FC3-D995-D875199A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052CD24-BB70-67DC-2A8E-6F03E6FB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DE592B5-ECE6-756C-E1D0-5E5F7217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26BDBBE-6138-3B66-CA0B-03E8CF82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130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1676215-9979-81EA-899E-EE958204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19F7A63-F132-1192-98F0-E3912652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1C7260-C347-01F1-DDD2-E4269788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2692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43B8D9-7052-7293-CE0E-09B12635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D94038-9812-61E0-0050-96C22684D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851D18F-FAF3-0941-44E5-231DAAD9D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F1D00E9-4965-D97E-80BB-ABC46A1D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B05D165-70DD-A0DE-6042-2D7528E3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748155-8824-D8E6-CAFC-BF409D42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99021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6169E-09E5-99DC-CD9A-02F3208E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079B439-CF9E-C288-7487-23E68F947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51A227-44AD-70E4-7273-7E47C44F8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26021E-117D-7644-4039-D233E9B3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4AC0C5-F634-37ED-8CA9-9AA9B8C7E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AB2523-AB51-C5EF-7F9C-C806576E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14414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100AFA-9F45-A22D-1347-37EB8166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72B80C4-0B66-4303-2F00-13A4CAD62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DBD38F-2BD6-04EA-2038-2A99DAE4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4957F5-660D-8FAC-8833-99C9B9AB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F6C432-9B77-85AD-3F5A-6FAF1FBF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4504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937DCC5-71C2-9E8A-32C0-BD79E68C1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2E68529-7CC5-1C0A-5CFD-E0CABEA50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B0F79D-C6E9-B6B3-462E-C1724912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3FF047-824D-84D9-9903-18863286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BA9191-4126-8A23-0CDD-0FD166BB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892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93BD237-CFF2-34CA-9590-D0F847A5C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CC8D5B-FA16-03B2-C2B2-0F8D120A2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90E354-E562-30AB-A048-15618C72B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3A3B4-22A2-1E40-9DB2-3AD63A60D42F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D75DA3-1BC6-54FE-DB61-C09BDD161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3CFF76-54E5-4E3A-AC4A-D836E3548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03BAE-656D-1B46-B2FE-117F5B2543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3173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DF1229B-D67E-159F-74BE-2A6477E1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BF8E17-698E-323C-763D-2FC7B15BB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30C3E1-B46E-94CE-2B12-F677FF31F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8156A1-697C-7C4C-B2F7-A23784370E3C}" type="datetimeFigureOut">
              <a:rPr lang="it-IT" smtClean="0"/>
              <a:t>16/11/25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81E250-005D-D4E2-8F5C-1F090FF66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CD1280-C426-329D-AB19-3A79FD19B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98347-3A90-6E4E-9C68-8C29C6A84E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0906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psule e pillole in una ciotola di vetro">
            <a:extLst>
              <a:ext uri="{FF2B5EF4-FFF2-40B4-BE49-F238E27FC236}">
                <a16:creationId xmlns:a16="http://schemas.microsoft.com/office/drawing/2014/main" id="{7900912C-0D74-5E3A-12D5-57DE428BAF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333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6E57D415-B36C-BB50-F3A4-68ED55588801}"/>
              </a:ext>
            </a:extLst>
          </p:cNvPr>
          <p:cNvSpPr txBox="1"/>
          <p:nvPr/>
        </p:nvSpPr>
        <p:spPr>
          <a:xfrm>
            <a:off x="6803409" y="2470245"/>
            <a:ext cx="4156512" cy="3769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400" dirty="0"/>
              <a:t>Predict Protein Dynamics for Drug Desing</a:t>
            </a:r>
          </a:p>
        </p:txBody>
      </p:sp>
    </p:spTree>
    <p:extLst>
      <p:ext uri="{BB962C8B-B14F-4D97-AF65-F5344CB8AC3E}">
        <p14:creationId xmlns:p14="http://schemas.microsoft.com/office/powerpoint/2010/main" val="240794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737F55-22A5-F0A1-321D-A5279E9300DE}"/>
              </a:ext>
            </a:extLst>
          </p:cNvPr>
          <p:cNvSpPr/>
          <p:nvPr/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Immagine 1">
            <a:extLst>
              <a:ext uri="{FF2B5EF4-FFF2-40B4-BE49-F238E27FC236}">
                <a16:creationId xmlns:a16="http://schemas.microsoft.com/office/drawing/2014/main" id="{27EBA855-AEC1-EB13-BE0F-953478190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4" y="177148"/>
            <a:ext cx="1586580" cy="550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0809E9-D5BC-0A17-D64C-FD30896B6DFE}"/>
              </a:ext>
            </a:extLst>
          </p:cNvPr>
          <p:cNvSpPr txBox="1"/>
          <p:nvPr/>
        </p:nvSpPr>
        <p:spPr>
          <a:xfrm>
            <a:off x="3919739" y="254849"/>
            <a:ext cx="4693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Molecular</a:t>
            </a:r>
            <a:r>
              <a:rPr lang="it-IT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dynamic</a:t>
            </a:r>
            <a:r>
              <a:rPr lang="it-IT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simulations</a:t>
            </a:r>
            <a:endParaRPr lang="en-GB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6D298-E291-A22F-84E6-BB11D332FEB5}"/>
              </a:ext>
            </a:extLst>
          </p:cNvPr>
          <p:cNvSpPr txBox="1"/>
          <p:nvPr/>
        </p:nvSpPr>
        <p:spPr>
          <a:xfrm>
            <a:off x="3478817" y="1949478"/>
            <a:ext cx="7940493" cy="646331"/>
          </a:xfrm>
          <a:prstGeom prst="rect">
            <a:avLst/>
          </a:prstGeom>
          <a:solidFill>
            <a:srgbClr val="E6BCB0"/>
          </a:solidFill>
          <a:scene3d>
            <a:camera prst="orthographicFront"/>
            <a:lightRig rig="threePt" dir="t"/>
          </a:scene3d>
          <a:sp3d>
            <a:bevelT w="31750"/>
          </a:sp3d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Arial Narrow" panose="020B0606020202030204" pitchFamily="34" charset="0"/>
              </a:rPr>
              <a:t>Molecular</a:t>
            </a:r>
            <a:r>
              <a:rPr lang="it-IT" dirty="0">
                <a:latin typeface="Arial Narrow" panose="020B0606020202030204" pitchFamily="34" charset="0"/>
              </a:rPr>
              <a:t> dynamics </a:t>
            </a:r>
            <a:r>
              <a:rPr lang="it-IT" dirty="0" err="1">
                <a:latin typeface="Arial Narrow" panose="020B0606020202030204" pitchFamily="34" charset="0"/>
              </a:rPr>
              <a:t>simulations</a:t>
            </a:r>
            <a:r>
              <a:rPr lang="it-IT" dirty="0">
                <a:latin typeface="Arial Narrow" panose="020B0606020202030204" pitchFamily="34" charset="0"/>
              </a:rPr>
              <a:t> (MD) are </a:t>
            </a:r>
            <a:r>
              <a:rPr lang="it-IT" dirty="0" err="1">
                <a:latin typeface="Arial Narrow" panose="020B0606020202030204" pitchFamily="34" charset="0"/>
              </a:rPr>
              <a:t>computational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methods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that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capture</a:t>
            </a:r>
            <a:r>
              <a:rPr lang="it-IT" dirty="0">
                <a:latin typeface="Arial Narrow" panose="020B0606020202030204" pitchFamily="34" charset="0"/>
              </a:rPr>
              <a:t> and </a:t>
            </a:r>
            <a:r>
              <a:rPr lang="it-IT" dirty="0" err="1">
                <a:latin typeface="Arial Narrow" panose="020B0606020202030204" pitchFamily="34" charset="0"/>
              </a:rPr>
              <a:t>analyze</a:t>
            </a:r>
            <a:r>
              <a:rPr lang="it-IT" dirty="0">
                <a:latin typeface="Arial Narrow" panose="020B0606020202030204" pitchFamily="34" charset="0"/>
              </a:rPr>
              <a:t> the </a:t>
            </a:r>
            <a:r>
              <a:rPr lang="it-IT" dirty="0" err="1">
                <a:latin typeface="Arial Narrow" panose="020B0606020202030204" pitchFamily="34" charset="0"/>
              </a:rPr>
              <a:t>physical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behavior</a:t>
            </a:r>
            <a:r>
              <a:rPr lang="it-IT" dirty="0">
                <a:latin typeface="Arial Narrow" panose="020B0606020202030204" pitchFamily="34" charset="0"/>
              </a:rPr>
              <a:t> of </a:t>
            </a:r>
            <a:r>
              <a:rPr lang="it-IT" dirty="0" err="1">
                <a:latin typeface="Arial Narrow" panose="020B0606020202030204" pitchFamily="34" charset="0"/>
              </a:rPr>
              <a:t>proteins</a:t>
            </a:r>
            <a:r>
              <a:rPr lang="it-IT" dirty="0">
                <a:latin typeface="Arial Narrow" panose="020B0606020202030204" pitchFamily="34" charset="0"/>
              </a:rPr>
              <a:t> and </a:t>
            </a:r>
            <a:r>
              <a:rPr lang="it-IT" dirty="0" err="1">
                <a:latin typeface="Arial Narrow" panose="020B0606020202030204" pitchFamily="34" charset="0"/>
              </a:rPr>
              <a:t>other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biomolecules</a:t>
            </a:r>
            <a:r>
              <a:rPr lang="it-IT" dirty="0">
                <a:latin typeface="Arial Narrow" panose="020B0606020202030204" pitchFamily="34" charset="0"/>
              </a:rPr>
              <a:t> in high </a:t>
            </a:r>
            <a:r>
              <a:rPr lang="it-IT" dirty="0" err="1">
                <a:latin typeface="Arial Narrow" panose="020B0606020202030204" pitchFamily="34" charset="0"/>
              </a:rPr>
              <a:t>temporal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resolution</a:t>
            </a:r>
            <a:r>
              <a:rPr lang="it-IT" dirty="0">
                <a:latin typeface="Arial Narrow" panose="020B0606020202030204" pitchFamily="34" charset="0"/>
              </a:rPr>
              <a:t>. </a:t>
            </a:r>
            <a:endParaRPr lang="en-GB" dirty="0"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19E6B-A529-B6AF-F82D-46EB8B347AA7}"/>
              </a:ext>
            </a:extLst>
          </p:cNvPr>
          <p:cNvSpPr txBox="1"/>
          <p:nvPr/>
        </p:nvSpPr>
        <p:spPr>
          <a:xfrm>
            <a:off x="3436896" y="4033911"/>
            <a:ext cx="8371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Arial Narrow" panose="020B0606020202030204" pitchFamily="34" charset="0"/>
              </a:rPr>
              <a:t>Starting</a:t>
            </a:r>
            <a:r>
              <a:rPr lang="it-IT" dirty="0">
                <a:latin typeface="Arial Narrow" panose="020B0606020202030204" pitchFamily="34" charset="0"/>
              </a:rPr>
              <a:t> from a </a:t>
            </a:r>
            <a:r>
              <a:rPr lang="it-IT" dirty="0" err="1">
                <a:latin typeface="Arial Narrow" panose="020B0606020202030204" pitchFamily="34" charset="0"/>
              </a:rPr>
              <a:t>given</a:t>
            </a:r>
            <a:r>
              <a:rPr lang="it-IT" dirty="0">
                <a:latin typeface="Arial Narrow" panose="020B0606020202030204" pitchFamily="34" charset="0"/>
              </a:rPr>
              <a:t> position of </a:t>
            </a:r>
            <a:r>
              <a:rPr lang="it-IT" dirty="0" err="1">
                <a:latin typeface="Arial Narrow" panose="020B0606020202030204" pitchFamily="34" charset="0"/>
              </a:rPr>
              <a:t>each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atom</a:t>
            </a:r>
            <a:r>
              <a:rPr lang="it-IT" dirty="0">
                <a:latin typeface="Arial Narrow" panose="020B0606020202030204" pitchFamily="34" charset="0"/>
              </a:rPr>
              <a:t> of a </a:t>
            </a:r>
            <a:r>
              <a:rPr lang="it-IT" dirty="0" err="1">
                <a:latin typeface="Arial Narrow" panose="020B0606020202030204" pitchFamily="34" charset="0"/>
              </a:rPr>
              <a:t>biomolecular</a:t>
            </a:r>
            <a:r>
              <a:rPr lang="it-IT" dirty="0">
                <a:latin typeface="Arial Narrow" panose="020B0606020202030204" pitchFamily="34" charset="0"/>
              </a:rPr>
              <a:t> system, a </a:t>
            </a:r>
            <a:r>
              <a:rPr lang="it-IT" dirty="0" err="1">
                <a:latin typeface="Arial Narrow" panose="020B0606020202030204" pitchFamily="34" charset="0"/>
              </a:rPr>
              <a:t>crystallographic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structure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surrounded</a:t>
            </a:r>
            <a:r>
              <a:rPr lang="it-IT" dirty="0">
                <a:latin typeface="Arial Narrow" panose="020B0606020202030204" pitchFamily="34" charset="0"/>
              </a:rPr>
              <a:t> by water or </a:t>
            </a:r>
            <a:r>
              <a:rPr lang="it-IT" dirty="0" err="1">
                <a:latin typeface="Arial Narrow" panose="020B0606020202030204" pitchFamily="34" charset="0"/>
              </a:rPr>
              <a:t>lipidic</a:t>
            </a:r>
            <a:r>
              <a:rPr lang="it-IT" dirty="0">
                <a:latin typeface="Arial Narrow" panose="020B0606020202030204" pitchFamily="34" charset="0"/>
              </a:rPr>
              <a:t> membrane, </a:t>
            </a:r>
            <a:r>
              <a:rPr lang="it-IT" dirty="0" err="1">
                <a:latin typeface="Arial Narrow" panose="020B0606020202030204" pitchFamily="34" charset="0"/>
              </a:rPr>
              <a:t>we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calculated</a:t>
            </a:r>
            <a:r>
              <a:rPr lang="it-IT" dirty="0">
                <a:latin typeface="Arial Narrow" panose="020B0606020202030204" pitchFamily="34" charset="0"/>
              </a:rPr>
              <a:t> the force </a:t>
            </a:r>
            <a:r>
              <a:rPr lang="it-IT" dirty="0" err="1">
                <a:latin typeface="Arial Narrow" panose="020B0606020202030204" pitchFamily="34" charset="0"/>
              </a:rPr>
              <a:t>associated</a:t>
            </a:r>
            <a:r>
              <a:rPr lang="it-IT" dirty="0">
                <a:latin typeface="Arial Narrow" panose="020B0606020202030204" pitchFamily="34" charset="0"/>
              </a:rPr>
              <a:t> to </a:t>
            </a:r>
            <a:r>
              <a:rPr lang="it-IT" dirty="0" err="1">
                <a:latin typeface="Arial Narrow" panose="020B0606020202030204" pitchFamily="34" charset="0"/>
              </a:rPr>
              <a:t>each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atom</a:t>
            </a:r>
            <a:r>
              <a:rPr lang="it-IT" dirty="0">
                <a:latin typeface="Arial Narrow" panose="020B0606020202030204" pitchFamily="34" charset="0"/>
              </a:rPr>
              <a:t>. </a:t>
            </a:r>
            <a:endParaRPr lang="en-GB" dirty="0"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3F504-E70E-7871-108E-FC4B6D133D50}"/>
              </a:ext>
            </a:extLst>
          </p:cNvPr>
          <p:cNvSpPr txBox="1"/>
          <p:nvPr/>
        </p:nvSpPr>
        <p:spPr>
          <a:xfrm>
            <a:off x="520990" y="5874331"/>
            <a:ext cx="34178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rial Narrow" panose="020B0606020202030204" pitchFamily="34" charset="0"/>
              </a:rPr>
              <a:t>At the end </a:t>
            </a:r>
            <a:r>
              <a:rPr lang="it-IT" sz="1400" dirty="0" err="1">
                <a:latin typeface="Arial Narrow" panose="020B0606020202030204" pitchFamily="34" charset="0"/>
              </a:rPr>
              <a:t>we</a:t>
            </a:r>
            <a:r>
              <a:rPr lang="it-IT" sz="1400" dirty="0">
                <a:latin typeface="Arial Narrow" panose="020B0606020202030204" pitchFamily="34" charset="0"/>
              </a:rPr>
              <a:t> </a:t>
            </a:r>
            <a:r>
              <a:rPr lang="it-IT" sz="1400" dirty="0" err="1">
                <a:latin typeface="Arial Narrow" panose="020B0606020202030204" pitchFamily="34" charset="0"/>
              </a:rPr>
              <a:t>have</a:t>
            </a:r>
            <a:r>
              <a:rPr lang="it-IT" sz="1400" dirty="0">
                <a:latin typeface="Arial Narrow" panose="020B0606020202030204" pitchFamily="34" charset="0"/>
              </a:rPr>
              <a:t> a </a:t>
            </a:r>
            <a:r>
              <a:rPr lang="it-IT" sz="1400" dirty="0" err="1">
                <a:latin typeface="Arial Narrow" panose="020B0606020202030204" pitchFamily="34" charset="0"/>
              </a:rPr>
              <a:t>trajectory</a:t>
            </a:r>
            <a:r>
              <a:rPr lang="it-IT" sz="1400" dirty="0">
                <a:latin typeface="Arial Narrow" panose="020B0606020202030204" pitchFamily="34" charset="0"/>
              </a:rPr>
              <a:t>, </a:t>
            </a:r>
            <a:r>
              <a:rPr lang="it-IT" sz="1400" dirty="0" err="1">
                <a:latin typeface="Arial Narrow" panose="020B0606020202030204" pitchFamily="34" charset="0"/>
              </a:rPr>
              <a:t>which</a:t>
            </a:r>
            <a:r>
              <a:rPr lang="it-IT" sz="1400" dirty="0">
                <a:latin typeface="Arial Narrow" panose="020B0606020202030204" pitchFamily="34" charset="0"/>
              </a:rPr>
              <a:t> can be </a:t>
            </a:r>
            <a:r>
              <a:rPr lang="it-IT" sz="1400" dirty="0" err="1">
                <a:latin typeface="Arial Narrow" panose="020B0606020202030204" pitchFamily="34" charset="0"/>
              </a:rPr>
              <a:t>considered</a:t>
            </a:r>
            <a:r>
              <a:rPr lang="it-IT" sz="1400" dirty="0">
                <a:latin typeface="Arial Narrow" panose="020B0606020202030204" pitchFamily="34" charset="0"/>
              </a:rPr>
              <a:t> </a:t>
            </a:r>
            <a:r>
              <a:rPr lang="it-IT" sz="1400" dirty="0" err="1">
                <a:latin typeface="Arial Narrow" panose="020B0606020202030204" pitchFamily="34" charset="0"/>
              </a:rPr>
              <a:t>as</a:t>
            </a:r>
            <a:r>
              <a:rPr lang="it-IT" sz="1400" dirty="0">
                <a:latin typeface="Arial Narrow" panose="020B0606020202030204" pitchFamily="34" charset="0"/>
              </a:rPr>
              <a:t> a movie </a:t>
            </a:r>
            <a:r>
              <a:rPr lang="it-IT" sz="1400" dirty="0" err="1">
                <a:latin typeface="Arial Narrow" panose="020B0606020202030204" pitchFamily="34" charset="0"/>
              </a:rPr>
              <a:t>that</a:t>
            </a:r>
            <a:r>
              <a:rPr lang="it-IT" sz="1400" dirty="0">
                <a:latin typeface="Arial Narrow" panose="020B0606020202030204" pitchFamily="34" charset="0"/>
              </a:rPr>
              <a:t> simulate the </a:t>
            </a:r>
            <a:r>
              <a:rPr lang="it-IT" sz="1400" dirty="0" err="1">
                <a:latin typeface="Arial Narrow" panose="020B0606020202030204" pitchFamily="34" charset="0"/>
              </a:rPr>
              <a:t>conformational</a:t>
            </a:r>
            <a:r>
              <a:rPr lang="it-IT" sz="1400" dirty="0">
                <a:latin typeface="Arial Narrow" panose="020B0606020202030204" pitchFamily="34" charset="0"/>
              </a:rPr>
              <a:t> </a:t>
            </a:r>
            <a:r>
              <a:rPr lang="it-IT" sz="1400" dirty="0" err="1">
                <a:latin typeface="Arial Narrow" panose="020B0606020202030204" pitchFamily="34" charset="0"/>
              </a:rPr>
              <a:t>behavior</a:t>
            </a:r>
            <a:r>
              <a:rPr lang="it-IT" sz="1400" dirty="0">
                <a:latin typeface="Arial Narrow" panose="020B0606020202030204" pitchFamily="34" charset="0"/>
              </a:rPr>
              <a:t> of the system </a:t>
            </a:r>
            <a:r>
              <a:rPr lang="it-IT" sz="1400" dirty="0" err="1">
                <a:latin typeface="Arial Narrow" panose="020B0606020202030204" pitchFamily="34" charset="0"/>
              </a:rPr>
              <a:t>at</a:t>
            </a:r>
            <a:r>
              <a:rPr lang="it-IT" sz="1400" dirty="0">
                <a:latin typeface="Arial Narrow" panose="020B0606020202030204" pitchFamily="34" charset="0"/>
              </a:rPr>
              <a:t> </a:t>
            </a:r>
            <a:r>
              <a:rPr lang="it-IT" sz="1400" dirty="0" err="1">
                <a:latin typeface="Arial Narrow" panose="020B0606020202030204" pitchFamily="34" charset="0"/>
              </a:rPr>
              <a:t>atomic</a:t>
            </a:r>
            <a:r>
              <a:rPr lang="it-IT" sz="1400" dirty="0">
                <a:latin typeface="Arial Narrow" panose="020B0606020202030204" pitchFamily="34" charset="0"/>
              </a:rPr>
              <a:t> </a:t>
            </a:r>
            <a:r>
              <a:rPr lang="it-IT" sz="1400" dirty="0" err="1">
                <a:latin typeface="Arial Narrow" panose="020B0606020202030204" pitchFamily="34" charset="0"/>
              </a:rPr>
              <a:t>level</a:t>
            </a:r>
            <a:endParaRPr lang="en-GB" sz="1400" dirty="0"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7695F-A78D-4109-CBB0-007F754AF919}"/>
              </a:ext>
            </a:extLst>
          </p:cNvPr>
          <p:cNvSpPr txBox="1"/>
          <p:nvPr/>
        </p:nvSpPr>
        <p:spPr>
          <a:xfrm>
            <a:off x="520990" y="4509826"/>
            <a:ext cx="2527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MDs</a:t>
            </a:r>
            <a:r>
              <a:rPr lang="it-I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aim</a:t>
            </a:r>
            <a:r>
              <a:rPr lang="it-I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: </a:t>
            </a:r>
            <a:r>
              <a:rPr lang="it-IT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mimicking</a:t>
            </a:r>
            <a:r>
              <a:rPr lang="it-I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what</a:t>
            </a:r>
            <a:r>
              <a:rPr lang="it-I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biologycal</a:t>
            </a:r>
            <a:r>
              <a:rPr lang="it-I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systems do in </a:t>
            </a:r>
            <a:r>
              <a:rPr lang="it-IT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real</a:t>
            </a:r>
            <a:r>
              <a:rPr lang="it-I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life </a:t>
            </a:r>
            <a:r>
              <a:rPr lang="it-IT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at</a:t>
            </a:r>
            <a:r>
              <a:rPr lang="it-I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atomistic</a:t>
            </a:r>
            <a:r>
              <a:rPr lang="it-I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level</a:t>
            </a:r>
            <a:endParaRPr lang="en-GB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45031-5225-40E6-D573-AAD4B7AA527C}"/>
              </a:ext>
            </a:extLst>
          </p:cNvPr>
          <p:cNvSpPr txBox="1"/>
          <p:nvPr/>
        </p:nvSpPr>
        <p:spPr>
          <a:xfrm>
            <a:off x="4393332" y="29046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Arial Narrow" panose="020B0606020202030204" pitchFamily="34" charset="0"/>
              </a:rPr>
              <a:t>MDs simulates the time-dependent behaviour of an ensemble of atoms by solving Newton’s equations of motion for each atom.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CDE71E-6ABD-C631-73BA-59E4B3A25ED8}"/>
              </a:ext>
            </a:extLst>
          </p:cNvPr>
          <p:cNvSpPr/>
          <p:nvPr/>
        </p:nvSpPr>
        <p:spPr>
          <a:xfrm>
            <a:off x="4750921" y="5008175"/>
            <a:ext cx="5743472" cy="30298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9131B6-AE2A-C154-A91B-B51567232BA2}"/>
              </a:ext>
            </a:extLst>
          </p:cNvPr>
          <p:cNvSpPr txBox="1"/>
          <p:nvPr/>
        </p:nvSpPr>
        <p:spPr>
          <a:xfrm>
            <a:off x="4398393" y="6136167"/>
            <a:ext cx="6292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Arial Narrow" panose="020B0606020202030204" pitchFamily="34" charset="0"/>
              </a:rPr>
              <a:t>Every</a:t>
            </a:r>
            <a:r>
              <a:rPr lang="it-IT" dirty="0">
                <a:latin typeface="Arial Narrow" panose="020B0606020202030204" pitchFamily="34" charset="0"/>
              </a:rPr>
              <a:t> 2 </a:t>
            </a:r>
            <a:r>
              <a:rPr lang="it-IT" dirty="0" err="1">
                <a:latin typeface="Arial Narrow" panose="020B0606020202030204" pitchFamily="34" charset="0"/>
              </a:rPr>
              <a:t>femtoseconds</a:t>
            </a:r>
            <a:r>
              <a:rPr lang="it-IT" dirty="0">
                <a:latin typeface="Arial Narrow" panose="020B0606020202030204" pitchFamily="34" charset="0"/>
              </a:rPr>
              <a:t> the </a:t>
            </a:r>
            <a:r>
              <a:rPr lang="it-IT" dirty="0" err="1">
                <a:latin typeface="Arial Narrow" panose="020B0606020202030204" pitchFamily="34" charset="0"/>
              </a:rPr>
              <a:t>forces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acting</a:t>
            </a:r>
            <a:r>
              <a:rPr lang="it-IT" dirty="0">
                <a:latin typeface="Arial Narrow" panose="020B0606020202030204" pitchFamily="34" charset="0"/>
              </a:rPr>
              <a:t> on </a:t>
            </a:r>
            <a:r>
              <a:rPr lang="it-IT" dirty="0" err="1">
                <a:latin typeface="Arial Narrow" panose="020B0606020202030204" pitchFamily="34" charset="0"/>
              </a:rPr>
              <a:t>each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atom</a:t>
            </a:r>
            <a:r>
              <a:rPr lang="it-IT" dirty="0">
                <a:latin typeface="Arial Narrow" panose="020B0606020202030204" pitchFamily="34" charset="0"/>
              </a:rPr>
              <a:t> are </a:t>
            </a:r>
            <a:r>
              <a:rPr lang="it-IT" dirty="0" err="1">
                <a:latin typeface="Arial Narrow" panose="020B0606020202030204" pitchFamily="34" charset="0"/>
              </a:rPr>
              <a:t>computed</a:t>
            </a:r>
            <a:r>
              <a:rPr lang="it-IT" dirty="0">
                <a:latin typeface="Arial Narrow" panose="020B0606020202030204" pitchFamily="34" charset="0"/>
              </a:rPr>
              <a:t> and the positions and </a:t>
            </a:r>
            <a:r>
              <a:rPr lang="it-IT" dirty="0" err="1">
                <a:latin typeface="Arial Narrow" panose="020B0606020202030204" pitchFamily="34" charset="0"/>
              </a:rPr>
              <a:t>velocities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updated</a:t>
            </a:r>
            <a:r>
              <a:rPr lang="it-IT" dirty="0">
                <a:latin typeface="Arial Narrow" panose="020B0606020202030204" pitchFamily="34" charset="0"/>
              </a:rPr>
              <a:t>.</a:t>
            </a:r>
            <a:endParaRPr lang="en-GB" dirty="0">
              <a:latin typeface="Arial Narrow" panose="020B060602020203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C3CB82-DAFE-8FF8-C7EE-5B95D83A091B}"/>
              </a:ext>
            </a:extLst>
          </p:cNvPr>
          <p:cNvCxnSpPr>
            <a:cxnSpLocks/>
            <a:stCxn id="19" idx="1"/>
          </p:cNvCxnSpPr>
          <p:nvPr/>
        </p:nvCxnSpPr>
        <p:spPr>
          <a:xfrm>
            <a:off x="4750921" y="5159669"/>
            <a:ext cx="5743472" cy="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EFCEC3-C2A9-7004-6407-C91A04D0E34C}"/>
              </a:ext>
            </a:extLst>
          </p:cNvPr>
          <p:cNvCxnSpPr/>
          <p:nvPr/>
        </p:nvCxnSpPr>
        <p:spPr>
          <a:xfrm>
            <a:off x="6698390" y="5034345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7ABD00-46F1-AD0C-0F73-6049BCA19C50}"/>
              </a:ext>
            </a:extLst>
          </p:cNvPr>
          <p:cNvCxnSpPr/>
          <p:nvPr/>
        </p:nvCxnSpPr>
        <p:spPr>
          <a:xfrm>
            <a:off x="7091706" y="5034346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23D126-56F7-9529-8983-72F64F10B127}"/>
              </a:ext>
            </a:extLst>
          </p:cNvPr>
          <p:cNvCxnSpPr/>
          <p:nvPr/>
        </p:nvCxnSpPr>
        <p:spPr>
          <a:xfrm>
            <a:off x="7446393" y="5042475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BC757B-6456-9E4B-77FE-FD78D43AD0D0}"/>
              </a:ext>
            </a:extLst>
          </p:cNvPr>
          <p:cNvCxnSpPr/>
          <p:nvPr/>
        </p:nvCxnSpPr>
        <p:spPr>
          <a:xfrm>
            <a:off x="7852438" y="5042475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A69783-B363-34AB-EFC6-D54A49A746D6}"/>
              </a:ext>
            </a:extLst>
          </p:cNvPr>
          <p:cNvCxnSpPr/>
          <p:nvPr/>
        </p:nvCxnSpPr>
        <p:spPr>
          <a:xfrm>
            <a:off x="8231080" y="5034347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6ADDDF-444C-B413-64AD-5B28EF3E48D7}"/>
              </a:ext>
            </a:extLst>
          </p:cNvPr>
          <p:cNvCxnSpPr/>
          <p:nvPr/>
        </p:nvCxnSpPr>
        <p:spPr>
          <a:xfrm>
            <a:off x="8609724" y="5037120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6ADF6-559B-BE72-3300-FE784801116A}"/>
              </a:ext>
            </a:extLst>
          </p:cNvPr>
          <p:cNvCxnSpPr/>
          <p:nvPr/>
        </p:nvCxnSpPr>
        <p:spPr>
          <a:xfrm>
            <a:off x="8997794" y="5042475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924356-4FC3-4F03-D0C7-268BC7774CE6}"/>
              </a:ext>
            </a:extLst>
          </p:cNvPr>
          <p:cNvCxnSpPr/>
          <p:nvPr/>
        </p:nvCxnSpPr>
        <p:spPr>
          <a:xfrm>
            <a:off x="9395291" y="5042475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FBDC98D-5A6A-961C-4843-1FFD55FA49E9}"/>
              </a:ext>
            </a:extLst>
          </p:cNvPr>
          <p:cNvCxnSpPr/>
          <p:nvPr/>
        </p:nvCxnSpPr>
        <p:spPr>
          <a:xfrm>
            <a:off x="9811642" y="5042475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B99179-4C8A-4AE3-5AF1-D8152719225A}"/>
              </a:ext>
            </a:extLst>
          </p:cNvPr>
          <p:cNvCxnSpPr/>
          <p:nvPr/>
        </p:nvCxnSpPr>
        <p:spPr>
          <a:xfrm>
            <a:off x="10237419" y="5042475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DA7F7C2-AF17-97C1-9650-BC7F3903ADA1}"/>
              </a:ext>
            </a:extLst>
          </p:cNvPr>
          <p:cNvCxnSpPr/>
          <p:nvPr/>
        </p:nvCxnSpPr>
        <p:spPr>
          <a:xfrm>
            <a:off x="6332316" y="5034345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E53D56A-19DD-2BC7-AD50-73BE177514F4}"/>
              </a:ext>
            </a:extLst>
          </p:cNvPr>
          <p:cNvCxnSpPr/>
          <p:nvPr/>
        </p:nvCxnSpPr>
        <p:spPr>
          <a:xfrm>
            <a:off x="5985095" y="5034344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DF1E152-34E8-F8E2-8B47-F804EEBCCB2F}"/>
              </a:ext>
            </a:extLst>
          </p:cNvPr>
          <p:cNvCxnSpPr>
            <a:cxnSpLocks/>
          </p:cNvCxnSpPr>
          <p:nvPr/>
        </p:nvCxnSpPr>
        <p:spPr>
          <a:xfrm>
            <a:off x="5626877" y="5034344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157C3F-2C5B-09A7-FA50-F8F65FC0273C}"/>
              </a:ext>
            </a:extLst>
          </p:cNvPr>
          <p:cNvCxnSpPr/>
          <p:nvPr/>
        </p:nvCxnSpPr>
        <p:spPr>
          <a:xfrm>
            <a:off x="5183817" y="5034344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FF1133B-0BF6-894D-2500-DECC47A9FFD8}"/>
              </a:ext>
            </a:extLst>
          </p:cNvPr>
          <p:cNvSpPr txBox="1"/>
          <p:nvPr/>
        </p:nvSpPr>
        <p:spPr>
          <a:xfrm>
            <a:off x="10512510" y="5157376"/>
            <a:ext cx="829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</a:t>
            </a:r>
            <a:endParaRPr lang="en-GB" dirty="0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F93A884E-61AF-8F8D-CA0B-5410CB62FF37}"/>
              </a:ext>
            </a:extLst>
          </p:cNvPr>
          <p:cNvSpPr/>
          <p:nvPr/>
        </p:nvSpPr>
        <p:spPr>
          <a:xfrm rot="16200000">
            <a:off x="4846193" y="5365915"/>
            <a:ext cx="267805" cy="4074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A4725E-113C-E632-3337-96F25BCDFBF9}"/>
              </a:ext>
            </a:extLst>
          </p:cNvPr>
          <p:cNvSpPr txBox="1"/>
          <p:nvPr/>
        </p:nvSpPr>
        <p:spPr>
          <a:xfrm>
            <a:off x="4750921" y="5720792"/>
            <a:ext cx="101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2fs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436A0C-1361-F91E-903C-EFBAB9A6BEFC}"/>
              </a:ext>
            </a:extLst>
          </p:cNvPr>
          <p:cNvSpPr txBox="1"/>
          <p:nvPr/>
        </p:nvSpPr>
        <p:spPr>
          <a:xfrm>
            <a:off x="3171867" y="951299"/>
            <a:ext cx="6320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in molecular biology and drug discovery, uncovering the structural basis for disease </a:t>
            </a:r>
          </a:p>
        </p:txBody>
      </p:sp>
      <p:pic>
        <p:nvPicPr>
          <p:cNvPr id="43" name="Immagine 10">
            <a:extLst>
              <a:ext uri="{FF2B5EF4-FFF2-40B4-BE49-F238E27FC236}">
                <a16:creationId xmlns:a16="http://schemas.microsoft.com/office/drawing/2014/main" id="{FADFB253-17E0-E08E-348E-5456F09A4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17" y="73580"/>
            <a:ext cx="1018720" cy="75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BD8BD8D4-A52C-736A-49D7-A07DA036C1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608" t="10468" r="13352" b="8573"/>
          <a:stretch>
            <a:fillRect/>
          </a:stretch>
        </p:blipFill>
        <p:spPr>
          <a:xfrm>
            <a:off x="383583" y="1544332"/>
            <a:ext cx="2577302" cy="2533593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E02CE25-D505-228D-1847-99F0E4BD7519}"/>
              </a:ext>
            </a:extLst>
          </p:cNvPr>
          <p:cNvCxnSpPr/>
          <p:nvPr/>
        </p:nvCxnSpPr>
        <p:spPr>
          <a:xfrm>
            <a:off x="520990" y="4033911"/>
            <a:ext cx="1920458" cy="0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66FF97C-24D9-E773-77E5-6C7FF22BEA2E}"/>
              </a:ext>
            </a:extLst>
          </p:cNvPr>
          <p:cNvCxnSpPr/>
          <p:nvPr/>
        </p:nvCxnSpPr>
        <p:spPr>
          <a:xfrm flipV="1">
            <a:off x="2450592" y="3429000"/>
            <a:ext cx="510293" cy="604911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06D43BF-4A61-E5F1-993A-53CA9F464CDD}"/>
              </a:ext>
            </a:extLst>
          </p:cNvPr>
          <p:cNvCxnSpPr/>
          <p:nvPr/>
        </p:nvCxnSpPr>
        <p:spPr>
          <a:xfrm flipV="1">
            <a:off x="520990" y="1856232"/>
            <a:ext cx="0" cy="217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92D3E41B-D455-516C-B7BF-E116B029F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77" y="3710746"/>
            <a:ext cx="565958" cy="646331"/>
          </a:xfrm>
          <a:prstGeom prst="rect">
            <a:avLst/>
          </a:prstGeom>
        </p:spPr>
      </p:pic>
      <p:sp>
        <p:nvSpPr>
          <p:cNvPr id="54" name="Arrow: Notched Right 53">
            <a:extLst>
              <a:ext uri="{FF2B5EF4-FFF2-40B4-BE49-F238E27FC236}">
                <a16:creationId xmlns:a16="http://schemas.microsoft.com/office/drawing/2014/main" id="{5A621B45-FDA2-8856-A805-F24370497EEC}"/>
              </a:ext>
            </a:extLst>
          </p:cNvPr>
          <p:cNvSpPr/>
          <p:nvPr/>
        </p:nvSpPr>
        <p:spPr>
          <a:xfrm rot="10800000">
            <a:off x="3841892" y="6315514"/>
            <a:ext cx="548769" cy="287636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1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7E1F1-1BB4-7E0B-4DE0-94AD77B9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30B627-8E7C-A968-5489-9EBF8ACD61B6}"/>
              </a:ext>
            </a:extLst>
          </p:cNvPr>
          <p:cNvSpPr/>
          <p:nvPr/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Immagine 1">
            <a:extLst>
              <a:ext uri="{FF2B5EF4-FFF2-40B4-BE49-F238E27FC236}">
                <a16:creationId xmlns:a16="http://schemas.microsoft.com/office/drawing/2014/main" id="{17B28220-E17F-1E93-E2CF-E7ED4A6D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4" y="177148"/>
            <a:ext cx="1586580" cy="550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Immagine 10">
            <a:extLst>
              <a:ext uri="{FF2B5EF4-FFF2-40B4-BE49-F238E27FC236}">
                <a16:creationId xmlns:a16="http://schemas.microsoft.com/office/drawing/2014/main" id="{3E9F249F-DEEE-767B-0DB5-917A05547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7" y="73580"/>
            <a:ext cx="1018720" cy="75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D92C8F-8B51-633A-56CD-C70B8C8A9551}"/>
              </a:ext>
            </a:extLst>
          </p:cNvPr>
          <p:cNvSpPr txBox="1"/>
          <p:nvPr/>
        </p:nvSpPr>
        <p:spPr>
          <a:xfrm>
            <a:off x="2541066" y="3459142"/>
            <a:ext cx="7653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</a:t>
            </a:r>
            <a:r>
              <a:rPr lang="it-IT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dependent</a:t>
            </a:r>
            <a:r>
              <a:rPr lang="it-IT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</a:t>
            </a:r>
            <a:r>
              <a:rPr lang="it-IT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force, </a:t>
            </a:r>
            <a:r>
              <a:rPr lang="it-IT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velocity</a:t>
            </a:r>
            <a:r>
              <a:rPr lang="it-IT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it-IT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coordinates</a:t>
            </a:r>
            <a:r>
              <a:rPr lang="it-IT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matrices</a:t>
            </a:r>
            <a:r>
              <a:rPr lang="it-IT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update positions and accelerate </a:t>
            </a:r>
            <a:r>
              <a:rPr lang="it-IT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molecular</a:t>
            </a:r>
            <a:r>
              <a:rPr lang="it-IT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</a:t>
            </a:r>
            <a:r>
              <a:rPr lang="it-IT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simulations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3730E-D392-923F-6190-19DBAFF0B9ED}"/>
              </a:ext>
            </a:extLst>
          </p:cNvPr>
          <p:cNvSpPr/>
          <p:nvPr/>
        </p:nvSpPr>
        <p:spPr>
          <a:xfrm>
            <a:off x="3496094" y="4485498"/>
            <a:ext cx="5743472" cy="30298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90F639-9ADC-B057-79C1-9725C5A7FAA8}"/>
              </a:ext>
            </a:extLst>
          </p:cNvPr>
          <p:cNvCxnSpPr>
            <a:cxnSpLocks/>
          </p:cNvCxnSpPr>
          <p:nvPr/>
        </p:nvCxnSpPr>
        <p:spPr>
          <a:xfrm>
            <a:off x="3496094" y="4642346"/>
            <a:ext cx="5743472" cy="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D9B465-BE29-E79F-C7B7-5CDEED11277D}"/>
              </a:ext>
            </a:extLst>
          </p:cNvPr>
          <p:cNvCxnSpPr/>
          <p:nvPr/>
        </p:nvCxnSpPr>
        <p:spPr>
          <a:xfrm>
            <a:off x="5443563" y="4511668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9BD460-37F4-7F0B-85EF-CA1D94C8911B}"/>
              </a:ext>
            </a:extLst>
          </p:cNvPr>
          <p:cNvCxnSpPr/>
          <p:nvPr/>
        </p:nvCxnSpPr>
        <p:spPr>
          <a:xfrm>
            <a:off x="5836879" y="4511669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262F9E-AB7E-28A3-84BA-1ED3CCA22C91}"/>
              </a:ext>
            </a:extLst>
          </p:cNvPr>
          <p:cNvCxnSpPr/>
          <p:nvPr/>
        </p:nvCxnSpPr>
        <p:spPr>
          <a:xfrm>
            <a:off x="6191566" y="4519798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5020DF-643D-CF54-04DC-3F95B5BBA443}"/>
              </a:ext>
            </a:extLst>
          </p:cNvPr>
          <p:cNvCxnSpPr/>
          <p:nvPr/>
        </p:nvCxnSpPr>
        <p:spPr>
          <a:xfrm>
            <a:off x="6597611" y="4519798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D86CD7-C3ED-C8E8-59D9-7EA065371C8E}"/>
              </a:ext>
            </a:extLst>
          </p:cNvPr>
          <p:cNvCxnSpPr/>
          <p:nvPr/>
        </p:nvCxnSpPr>
        <p:spPr>
          <a:xfrm>
            <a:off x="6976253" y="4511670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51A28F-2DEF-7178-FEE8-366E3EDF24FC}"/>
              </a:ext>
            </a:extLst>
          </p:cNvPr>
          <p:cNvCxnSpPr/>
          <p:nvPr/>
        </p:nvCxnSpPr>
        <p:spPr>
          <a:xfrm>
            <a:off x="7354897" y="4514443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56A127-8CB1-1EC5-E434-09A44FF51C5D}"/>
              </a:ext>
            </a:extLst>
          </p:cNvPr>
          <p:cNvCxnSpPr/>
          <p:nvPr/>
        </p:nvCxnSpPr>
        <p:spPr>
          <a:xfrm>
            <a:off x="7742967" y="4519798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50B40B-F22B-7739-0BDA-1122FE8ABEFF}"/>
              </a:ext>
            </a:extLst>
          </p:cNvPr>
          <p:cNvCxnSpPr/>
          <p:nvPr/>
        </p:nvCxnSpPr>
        <p:spPr>
          <a:xfrm>
            <a:off x="8140464" y="4519798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13D252-B3A0-B6E3-FA72-59421BAB103E}"/>
              </a:ext>
            </a:extLst>
          </p:cNvPr>
          <p:cNvCxnSpPr/>
          <p:nvPr/>
        </p:nvCxnSpPr>
        <p:spPr>
          <a:xfrm>
            <a:off x="8556815" y="4519798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E898CE-2B33-1D0C-D6A0-3C4F342B79AD}"/>
              </a:ext>
            </a:extLst>
          </p:cNvPr>
          <p:cNvCxnSpPr/>
          <p:nvPr/>
        </p:nvCxnSpPr>
        <p:spPr>
          <a:xfrm>
            <a:off x="8982592" y="4519798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00256D-5AE8-2B5E-986F-CBF411EAD632}"/>
              </a:ext>
            </a:extLst>
          </p:cNvPr>
          <p:cNvCxnSpPr/>
          <p:nvPr/>
        </p:nvCxnSpPr>
        <p:spPr>
          <a:xfrm>
            <a:off x="5077489" y="4511668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B9FE71-5B22-5DEA-18BD-04788519C3FE}"/>
              </a:ext>
            </a:extLst>
          </p:cNvPr>
          <p:cNvCxnSpPr/>
          <p:nvPr/>
        </p:nvCxnSpPr>
        <p:spPr>
          <a:xfrm>
            <a:off x="4730268" y="4511667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1ED021-528A-D844-86CF-70E99C4357EB}"/>
              </a:ext>
            </a:extLst>
          </p:cNvPr>
          <p:cNvCxnSpPr>
            <a:cxnSpLocks/>
          </p:cNvCxnSpPr>
          <p:nvPr/>
        </p:nvCxnSpPr>
        <p:spPr>
          <a:xfrm>
            <a:off x="4372050" y="4511667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D8521A-E0F0-ACC0-19E1-4ED4983AD4D2}"/>
              </a:ext>
            </a:extLst>
          </p:cNvPr>
          <p:cNvCxnSpPr/>
          <p:nvPr/>
        </p:nvCxnSpPr>
        <p:spPr>
          <a:xfrm>
            <a:off x="3928990" y="4511667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7E35BD-6DF6-CCDB-2A7D-2326CCDCEC16}"/>
              </a:ext>
            </a:extLst>
          </p:cNvPr>
          <p:cNvCxnSpPr>
            <a:cxnSpLocks/>
          </p:cNvCxnSpPr>
          <p:nvPr/>
        </p:nvCxnSpPr>
        <p:spPr>
          <a:xfrm flipV="1">
            <a:off x="2869117" y="4788486"/>
            <a:ext cx="626977" cy="330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521B92-6BF0-F1C9-B57B-016FCEC71297}"/>
              </a:ext>
            </a:extLst>
          </p:cNvPr>
          <p:cNvCxnSpPr/>
          <p:nvPr/>
        </p:nvCxnSpPr>
        <p:spPr>
          <a:xfrm>
            <a:off x="3496094" y="4507062"/>
            <a:ext cx="0" cy="24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Arrow: Curved Up 30">
            <a:extLst>
              <a:ext uri="{FF2B5EF4-FFF2-40B4-BE49-F238E27FC236}">
                <a16:creationId xmlns:a16="http://schemas.microsoft.com/office/drawing/2014/main" id="{5EA983A1-2DDB-4DAB-F7D2-5D11F96E87C8}"/>
              </a:ext>
            </a:extLst>
          </p:cNvPr>
          <p:cNvSpPr/>
          <p:nvPr/>
        </p:nvSpPr>
        <p:spPr>
          <a:xfrm>
            <a:off x="3496093" y="4909007"/>
            <a:ext cx="1156104" cy="36933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Arrow: Curved Up 31">
            <a:extLst>
              <a:ext uri="{FF2B5EF4-FFF2-40B4-BE49-F238E27FC236}">
                <a16:creationId xmlns:a16="http://schemas.microsoft.com/office/drawing/2014/main" id="{A9351ACC-20A0-E30B-FF68-60F5E1F15607}"/>
              </a:ext>
            </a:extLst>
          </p:cNvPr>
          <p:cNvSpPr/>
          <p:nvPr/>
        </p:nvSpPr>
        <p:spPr>
          <a:xfrm>
            <a:off x="5001377" y="4916389"/>
            <a:ext cx="1078208" cy="36933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Arrow: Curved Up 32">
            <a:extLst>
              <a:ext uri="{FF2B5EF4-FFF2-40B4-BE49-F238E27FC236}">
                <a16:creationId xmlns:a16="http://schemas.microsoft.com/office/drawing/2014/main" id="{60C54CD1-DE1B-04E5-5772-8E38F70E0822}"/>
              </a:ext>
            </a:extLst>
          </p:cNvPr>
          <p:cNvSpPr/>
          <p:nvPr/>
        </p:nvSpPr>
        <p:spPr>
          <a:xfrm>
            <a:off x="6397037" y="4879315"/>
            <a:ext cx="1078208" cy="36933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Arrow: Curved Up 33">
            <a:extLst>
              <a:ext uri="{FF2B5EF4-FFF2-40B4-BE49-F238E27FC236}">
                <a16:creationId xmlns:a16="http://schemas.microsoft.com/office/drawing/2014/main" id="{3C4B3A4A-26B1-046D-57D6-0918C2591BA8}"/>
              </a:ext>
            </a:extLst>
          </p:cNvPr>
          <p:cNvSpPr/>
          <p:nvPr/>
        </p:nvSpPr>
        <p:spPr>
          <a:xfrm>
            <a:off x="7904384" y="4895571"/>
            <a:ext cx="1078208" cy="36933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35" name="Immagine 11">
            <a:extLst>
              <a:ext uri="{FF2B5EF4-FFF2-40B4-BE49-F238E27FC236}">
                <a16:creationId xmlns:a16="http://schemas.microsoft.com/office/drawing/2014/main" id="{E151CBC4-7FEA-2594-A18C-79957D72ED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08" t="10468" r="13352" b="8573"/>
          <a:stretch>
            <a:fillRect/>
          </a:stretch>
        </p:blipFill>
        <p:spPr>
          <a:xfrm>
            <a:off x="987093" y="4993005"/>
            <a:ext cx="1748757" cy="17190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DD43283-F5AD-E08D-BEEC-E95DBACDA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071" y="1211570"/>
            <a:ext cx="2211676" cy="19691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E751D0E-7145-EED6-47AB-D2320E58F9F4}"/>
              </a:ext>
            </a:extLst>
          </p:cNvPr>
          <p:cNvSpPr txBox="1"/>
          <p:nvPr/>
        </p:nvSpPr>
        <p:spPr>
          <a:xfrm>
            <a:off x="3882045" y="4929971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Δt</a:t>
            </a:r>
            <a:endParaRPr lang="en-GB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2902E17-9F08-9F4F-2E73-08F212CA14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354" y="1230680"/>
            <a:ext cx="2211676" cy="196917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810727C-1CCE-CF24-8677-9BC6330EB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671" y="1230680"/>
            <a:ext cx="2211676" cy="196917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2CC4796-509B-8B2B-FE8B-B6B5FA4177D0}"/>
              </a:ext>
            </a:extLst>
          </p:cNvPr>
          <p:cNvSpPr txBox="1"/>
          <p:nvPr/>
        </p:nvSpPr>
        <p:spPr>
          <a:xfrm>
            <a:off x="2541066" y="1005445"/>
            <a:ext cx="62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</a:t>
            </a:r>
            <a:r>
              <a:rPr lang="it-IT" baseline="-25000" dirty="0"/>
              <a:t>0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28F69D-A11D-27DE-DB91-2247CF6C7DAF}"/>
              </a:ext>
            </a:extLst>
          </p:cNvPr>
          <p:cNvSpPr txBox="1"/>
          <p:nvPr/>
        </p:nvSpPr>
        <p:spPr>
          <a:xfrm>
            <a:off x="4889555" y="1017115"/>
            <a:ext cx="62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</a:t>
            </a:r>
            <a:r>
              <a:rPr lang="it-IT" baseline="-25000" dirty="0"/>
              <a:t>1</a:t>
            </a:r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AB22EC-5CA0-E2A5-71FB-75BD58D1D3BE}"/>
              </a:ext>
            </a:extLst>
          </p:cNvPr>
          <p:cNvSpPr txBox="1"/>
          <p:nvPr/>
        </p:nvSpPr>
        <p:spPr>
          <a:xfrm>
            <a:off x="7531851" y="1027804"/>
            <a:ext cx="62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</a:t>
            </a:r>
            <a:r>
              <a:rPr lang="it-IT" baseline="-25000" dirty="0"/>
              <a:t>n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081B7-20B4-087C-2822-AC121BB5419B}"/>
              </a:ext>
            </a:extLst>
          </p:cNvPr>
          <p:cNvSpPr txBox="1"/>
          <p:nvPr/>
        </p:nvSpPr>
        <p:spPr>
          <a:xfrm>
            <a:off x="7102712" y="1709656"/>
            <a:ext cx="62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aseline="-25000" dirty="0"/>
              <a:t>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950316-12D0-A5A7-02CC-A141705E9E21}"/>
              </a:ext>
            </a:extLst>
          </p:cNvPr>
          <p:cNvSpPr txBox="1"/>
          <p:nvPr/>
        </p:nvSpPr>
        <p:spPr>
          <a:xfrm>
            <a:off x="223013" y="1771211"/>
            <a:ext cx="1786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400" dirty="0">
                <a:latin typeface="Arial Narrow" panose="020B0606020202030204" pitchFamily="34" charset="0"/>
              </a:rPr>
              <a:t>3 </a:t>
            </a:r>
            <a:r>
              <a:rPr lang="it-IT" sz="1400" dirty="0" err="1">
                <a:latin typeface="Arial Narrow" panose="020B0606020202030204" pitchFamily="34" charset="0"/>
              </a:rPr>
              <a:t>matrices</a:t>
            </a:r>
            <a:r>
              <a:rPr lang="it-IT" sz="1400" dirty="0">
                <a:latin typeface="Arial Narrow" panose="020B0606020202030204" pitchFamily="34" charset="0"/>
              </a:rPr>
              <a:t> (X,V,F) for </a:t>
            </a:r>
            <a:r>
              <a:rPr lang="it-IT" sz="1400" dirty="0" err="1">
                <a:latin typeface="Arial Narrow" panose="020B0606020202030204" pitchFamily="34" charset="0"/>
              </a:rPr>
              <a:t>each</a:t>
            </a:r>
            <a:r>
              <a:rPr lang="it-IT" sz="1400" dirty="0">
                <a:latin typeface="Arial Narrow" panose="020B0606020202030204" pitchFamily="34" charset="0"/>
              </a:rPr>
              <a:t> </a:t>
            </a:r>
            <a:r>
              <a:rPr lang="it-IT" sz="1400" dirty="0" err="1">
                <a:latin typeface="Arial Narrow" panose="020B0606020202030204" pitchFamily="34" charset="0"/>
              </a:rPr>
              <a:t>timne</a:t>
            </a:r>
            <a:r>
              <a:rPr lang="it-IT" sz="1400" dirty="0">
                <a:latin typeface="Arial Narrow" panose="020B0606020202030204" pitchFamily="34" charset="0"/>
              </a:rPr>
              <a:t> step</a:t>
            </a:r>
            <a:endParaRPr lang="en-GB" sz="1400" dirty="0">
              <a:latin typeface="Arial Narrow" panose="020B060602020203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3A454E-6ED8-89B4-E596-ECBE034C91C2}"/>
              </a:ext>
            </a:extLst>
          </p:cNvPr>
          <p:cNvSpPr txBox="1"/>
          <p:nvPr/>
        </p:nvSpPr>
        <p:spPr>
          <a:xfrm>
            <a:off x="3215696" y="4159347"/>
            <a:ext cx="62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</a:t>
            </a:r>
            <a:r>
              <a:rPr lang="it-IT" baseline="-25000" dirty="0"/>
              <a:t>0</a:t>
            </a:r>
            <a:endParaRPr lang="en-GB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CFB453-CABD-D876-AEDE-05490AFAB1AF}"/>
              </a:ext>
            </a:extLst>
          </p:cNvPr>
          <p:cNvSpPr txBox="1"/>
          <p:nvPr/>
        </p:nvSpPr>
        <p:spPr>
          <a:xfrm>
            <a:off x="9025975" y="4116166"/>
            <a:ext cx="62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</a:t>
            </a:r>
            <a:r>
              <a:rPr lang="it-IT" baseline="-25000" dirty="0"/>
              <a:t>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56DEEC-BFBD-4EB7-CB0E-15F48BF4BA56}"/>
              </a:ext>
            </a:extLst>
          </p:cNvPr>
          <p:cNvSpPr txBox="1"/>
          <p:nvPr/>
        </p:nvSpPr>
        <p:spPr>
          <a:xfrm>
            <a:off x="1171727" y="4694428"/>
            <a:ext cx="1852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latin typeface="Arial Narrow" panose="020B0606020202030204" pitchFamily="34" charset="0"/>
              </a:rPr>
              <a:t>Starting</a:t>
            </a:r>
            <a:r>
              <a:rPr lang="it-IT" sz="1400" b="1" dirty="0">
                <a:latin typeface="Arial Narrow" panose="020B0606020202030204" pitchFamily="34" charset="0"/>
              </a:rPr>
              <a:t> </a:t>
            </a:r>
            <a:r>
              <a:rPr lang="it-IT" sz="1400" b="1" dirty="0" err="1">
                <a:latin typeface="Arial Narrow" panose="020B0606020202030204" pitchFamily="34" charset="0"/>
              </a:rPr>
              <a:t>geometry</a:t>
            </a:r>
            <a:endParaRPr lang="en-GB" sz="1400" b="1" dirty="0">
              <a:latin typeface="Arial Narrow" panose="020B0606020202030204" pitchFamily="34" charset="0"/>
            </a:endParaRPr>
          </a:p>
        </p:txBody>
      </p:sp>
      <p:pic>
        <p:nvPicPr>
          <p:cNvPr id="1026" name="Picture 2" descr="AlphaFold for conformational protein structure">
            <a:extLst>
              <a:ext uri="{FF2B5EF4-FFF2-40B4-BE49-F238E27FC236}">
                <a16:creationId xmlns:a16="http://schemas.microsoft.com/office/drawing/2014/main" id="{9E0EDA5B-1FF3-E6E2-FCDA-ABFA44C034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18" t="43039" r="24630" b="31968"/>
          <a:stretch/>
        </p:blipFill>
        <p:spPr bwMode="auto">
          <a:xfrm>
            <a:off x="3693679" y="5535055"/>
            <a:ext cx="5348302" cy="126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462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E6D8E-E76D-8F86-6E1E-9B96F374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44">
            <a:extLst>
              <a:ext uri="{FF2B5EF4-FFF2-40B4-BE49-F238E27FC236}">
                <a16:creationId xmlns:a16="http://schemas.microsoft.com/office/drawing/2014/main" id="{1B9607C9-52E0-1CB8-CED3-B18B53DAD429}"/>
              </a:ext>
            </a:extLst>
          </p:cNvPr>
          <p:cNvSpPr/>
          <p:nvPr/>
        </p:nvSpPr>
        <p:spPr>
          <a:xfrm>
            <a:off x="4975075" y="3001613"/>
            <a:ext cx="2843078" cy="132744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79048E-44C0-5855-8666-A34066D6C311}"/>
              </a:ext>
            </a:extLst>
          </p:cNvPr>
          <p:cNvSpPr/>
          <p:nvPr/>
        </p:nvSpPr>
        <p:spPr>
          <a:xfrm>
            <a:off x="8029194" y="1285947"/>
            <a:ext cx="3944178" cy="16190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B26555-87F8-24BB-7719-345ED22F97FA}"/>
              </a:ext>
            </a:extLst>
          </p:cNvPr>
          <p:cNvSpPr/>
          <p:nvPr/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Immagine 1">
            <a:extLst>
              <a:ext uri="{FF2B5EF4-FFF2-40B4-BE49-F238E27FC236}">
                <a16:creationId xmlns:a16="http://schemas.microsoft.com/office/drawing/2014/main" id="{F60A402D-1123-AA26-1590-30CE68906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4" y="177148"/>
            <a:ext cx="1586580" cy="550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7E78C-C527-CCB1-A3BD-7F12F8229B95}"/>
              </a:ext>
            </a:extLst>
          </p:cNvPr>
          <p:cNvSpPr txBox="1"/>
          <p:nvPr/>
        </p:nvSpPr>
        <p:spPr>
          <a:xfrm>
            <a:off x="436270" y="4087809"/>
            <a:ext cx="284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X=</a:t>
            </a:r>
            <a:endParaRPr lang="en-GB" dirty="0"/>
          </a:p>
        </p:txBody>
      </p:sp>
      <p:sp>
        <p:nvSpPr>
          <p:cNvPr id="14" name="Double Bracket 13">
            <a:extLst>
              <a:ext uri="{FF2B5EF4-FFF2-40B4-BE49-F238E27FC236}">
                <a16:creationId xmlns:a16="http://schemas.microsoft.com/office/drawing/2014/main" id="{C6CB6120-188E-E86D-0D6E-3D9FD3763BFD}"/>
              </a:ext>
            </a:extLst>
          </p:cNvPr>
          <p:cNvSpPr/>
          <p:nvPr/>
        </p:nvSpPr>
        <p:spPr>
          <a:xfrm>
            <a:off x="910200" y="2363165"/>
            <a:ext cx="739303" cy="418795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7D2425-3427-9BCB-8577-46C43046D0BD}"/>
              </a:ext>
            </a:extLst>
          </p:cNvPr>
          <p:cNvSpPr txBox="1"/>
          <p:nvPr/>
        </p:nvSpPr>
        <p:spPr>
          <a:xfrm>
            <a:off x="1117206" y="2363165"/>
            <a:ext cx="8778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</a:t>
            </a:r>
            <a:r>
              <a:rPr lang="it-IT" baseline="-25000" dirty="0"/>
              <a:t>1</a:t>
            </a:r>
          </a:p>
          <a:p>
            <a:r>
              <a:rPr lang="it-IT" dirty="0"/>
              <a:t>Y</a:t>
            </a:r>
            <a:r>
              <a:rPr lang="it-IT" baseline="-25000" dirty="0"/>
              <a:t>1</a:t>
            </a:r>
          </a:p>
          <a:p>
            <a:r>
              <a:rPr lang="it-IT" dirty="0"/>
              <a:t>Z</a:t>
            </a:r>
            <a:r>
              <a:rPr lang="it-IT" baseline="-25000" dirty="0"/>
              <a:t>1</a:t>
            </a:r>
          </a:p>
          <a:p>
            <a:r>
              <a:rPr lang="it-IT" dirty="0"/>
              <a:t>X</a:t>
            </a:r>
            <a:r>
              <a:rPr lang="it-IT" baseline="-25000" dirty="0"/>
              <a:t>2</a:t>
            </a:r>
          </a:p>
          <a:p>
            <a:r>
              <a:rPr lang="it-IT" dirty="0"/>
              <a:t>Y</a:t>
            </a:r>
            <a:r>
              <a:rPr lang="it-IT" baseline="-25000" dirty="0"/>
              <a:t>2</a:t>
            </a:r>
          </a:p>
          <a:p>
            <a:r>
              <a:rPr lang="it-IT" dirty="0"/>
              <a:t>Z</a:t>
            </a:r>
            <a:r>
              <a:rPr lang="it-IT" baseline="-25000" dirty="0"/>
              <a:t>2</a:t>
            </a:r>
          </a:p>
          <a:p>
            <a:r>
              <a:rPr lang="it-IT" dirty="0"/>
              <a:t>X</a:t>
            </a:r>
            <a:r>
              <a:rPr lang="it-IT" baseline="-25000" dirty="0"/>
              <a:t>3</a:t>
            </a:r>
          </a:p>
          <a:p>
            <a:r>
              <a:rPr lang="it-IT" dirty="0"/>
              <a:t>Y</a:t>
            </a:r>
            <a:r>
              <a:rPr lang="it-IT" baseline="-25000" dirty="0"/>
              <a:t>3</a:t>
            </a:r>
          </a:p>
          <a:p>
            <a:r>
              <a:rPr lang="it-IT" dirty="0"/>
              <a:t>Z</a:t>
            </a:r>
            <a:r>
              <a:rPr lang="it-IT" baseline="-25000" dirty="0"/>
              <a:t>3</a:t>
            </a:r>
          </a:p>
          <a:p>
            <a:r>
              <a:rPr lang="it-IT" baseline="-25000" dirty="0"/>
              <a:t>.</a:t>
            </a:r>
          </a:p>
          <a:p>
            <a:r>
              <a:rPr lang="it-IT" baseline="-25000" dirty="0"/>
              <a:t>.</a:t>
            </a:r>
          </a:p>
          <a:p>
            <a:r>
              <a:rPr lang="it-IT" baseline="-25000" dirty="0"/>
              <a:t>.</a:t>
            </a:r>
          </a:p>
          <a:p>
            <a:endParaRPr lang="it-IT" baseline="-25000" dirty="0"/>
          </a:p>
          <a:p>
            <a:r>
              <a:rPr lang="it-IT" dirty="0"/>
              <a:t>X</a:t>
            </a:r>
            <a:r>
              <a:rPr lang="it-IT" baseline="-25000" dirty="0"/>
              <a:t>N</a:t>
            </a:r>
          </a:p>
          <a:p>
            <a:r>
              <a:rPr lang="it-IT" dirty="0"/>
              <a:t>Y</a:t>
            </a:r>
            <a:r>
              <a:rPr lang="it-IT" baseline="-25000" dirty="0"/>
              <a:t>N</a:t>
            </a:r>
          </a:p>
          <a:p>
            <a:r>
              <a:rPr lang="it-IT" dirty="0"/>
              <a:t>Z</a:t>
            </a:r>
            <a:r>
              <a:rPr lang="it-IT" baseline="-25000" dirty="0"/>
              <a:t>N</a:t>
            </a:r>
          </a:p>
          <a:p>
            <a:endParaRPr lang="it-IT" baseline="-25000" dirty="0"/>
          </a:p>
          <a:p>
            <a:endParaRPr lang="it-IT" baseline="-25000" dirty="0"/>
          </a:p>
          <a:p>
            <a:endParaRPr lang="it-IT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585BD9-A5EA-5A23-C7C1-917B8ADDA9AD}"/>
              </a:ext>
            </a:extLst>
          </p:cNvPr>
          <p:cNvSpPr txBox="1"/>
          <p:nvPr/>
        </p:nvSpPr>
        <p:spPr>
          <a:xfrm>
            <a:off x="2029272" y="4087809"/>
            <a:ext cx="284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</a:t>
            </a:r>
            <a:endParaRPr lang="en-GB" dirty="0"/>
          </a:p>
        </p:txBody>
      </p:sp>
      <p:sp>
        <p:nvSpPr>
          <p:cNvPr id="17" name="Double Bracket 16">
            <a:extLst>
              <a:ext uri="{FF2B5EF4-FFF2-40B4-BE49-F238E27FC236}">
                <a16:creationId xmlns:a16="http://schemas.microsoft.com/office/drawing/2014/main" id="{A9C9BF10-785F-EE5E-9EA6-63ADFAAC835C}"/>
              </a:ext>
            </a:extLst>
          </p:cNvPr>
          <p:cNvSpPr/>
          <p:nvPr/>
        </p:nvSpPr>
        <p:spPr>
          <a:xfrm>
            <a:off x="2443283" y="2363165"/>
            <a:ext cx="739303" cy="418795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6E7F96-D7A7-C4AC-748C-E5C5604240FC}"/>
              </a:ext>
            </a:extLst>
          </p:cNvPr>
          <p:cNvSpPr txBox="1"/>
          <p:nvPr/>
        </p:nvSpPr>
        <p:spPr>
          <a:xfrm>
            <a:off x="2575969" y="2363165"/>
            <a:ext cx="8778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</a:t>
            </a:r>
            <a:r>
              <a:rPr lang="it-IT" baseline="-25000" dirty="0"/>
              <a:t>1,x</a:t>
            </a:r>
          </a:p>
          <a:p>
            <a:r>
              <a:rPr lang="it-IT" dirty="0"/>
              <a:t>F</a:t>
            </a:r>
            <a:r>
              <a:rPr lang="it-IT" baseline="-25000" dirty="0"/>
              <a:t>1,y</a:t>
            </a:r>
          </a:p>
          <a:p>
            <a:r>
              <a:rPr lang="it-IT" dirty="0"/>
              <a:t>F</a:t>
            </a:r>
            <a:r>
              <a:rPr lang="it-IT" baseline="-25000" dirty="0"/>
              <a:t>1,z</a:t>
            </a:r>
          </a:p>
          <a:p>
            <a:r>
              <a:rPr lang="it-IT" dirty="0"/>
              <a:t>F</a:t>
            </a:r>
            <a:r>
              <a:rPr lang="it-IT" baseline="-25000" dirty="0"/>
              <a:t>2,x</a:t>
            </a:r>
          </a:p>
          <a:p>
            <a:r>
              <a:rPr lang="it-IT" dirty="0"/>
              <a:t>F</a:t>
            </a:r>
            <a:r>
              <a:rPr lang="it-IT" baseline="-25000" dirty="0"/>
              <a:t>2,y</a:t>
            </a:r>
          </a:p>
          <a:p>
            <a:r>
              <a:rPr lang="it-IT" dirty="0"/>
              <a:t>F</a:t>
            </a:r>
            <a:r>
              <a:rPr lang="it-IT" baseline="-25000" dirty="0"/>
              <a:t>2,z</a:t>
            </a:r>
          </a:p>
          <a:p>
            <a:r>
              <a:rPr lang="it-IT" dirty="0"/>
              <a:t>F</a:t>
            </a:r>
            <a:r>
              <a:rPr lang="it-IT" baseline="-25000" dirty="0"/>
              <a:t>3,x</a:t>
            </a:r>
          </a:p>
          <a:p>
            <a:r>
              <a:rPr lang="it-IT" dirty="0"/>
              <a:t>F</a:t>
            </a:r>
            <a:r>
              <a:rPr lang="it-IT" baseline="-25000" dirty="0"/>
              <a:t>3,y</a:t>
            </a:r>
          </a:p>
          <a:p>
            <a:r>
              <a:rPr lang="it-IT" dirty="0"/>
              <a:t>F</a:t>
            </a:r>
            <a:r>
              <a:rPr lang="it-IT" baseline="-25000" dirty="0"/>
              <a:t>3,z</a:t>
            </a:r>
          </a:p>
          <a:p>
            <a:r>
              <a:rPr lang="it-IT" baseline="-25000" dirty="0"/>
              <a:t>.</a:t>
            </a:r>
          </a:p>
          <a:p>
            <a:r>
              <a:rPr lang="it-IT" baseline="-25000" dirty="0"/>
              <a:t>.</a:t>
            </a:r>
          </a:p>
          <a:p>
            <a:r>
              <a:rPr lang="it-IT" baseline="-25000" dirty="0"/>
              <a:t>.</a:t>
            </a:r>
          </a:p>
          <a:p>
            <a:r>
              <a:rPr lang="it-IT" dirty="0" err="1"/>
              <a:t>F</a:t>
            </a:r>
            <a:r>
              <a:rPr lang="it-IT" baseline="-25000" dirty="0" err="1"/>
              <a:t>N,x</a:t>
            </a:r>
            <a:endParaRPr lang="it-IT" baseline="-25000" dirty="0"/>
          </a:p>
          <a:p>
            <a:r>
              <a:rPr lang="it-IT" dirty="0" err="1"/>
              <a:t>F</a:t>
            </a:r>
            <a:r>
              <a:rPr lang="it-IT" baseline="-25000" dirty="0" err="1"/>
              <a:t>N,y</a:t>
            </a:r>
            <a:endParaRPr lang="it-IT" baseline="-25000" dirty="0"/>
          </a:p>
          <a:p>
            <a:r>
              <a:rPr lang="it-IT" dirty="0" err="1"/>
              <a:t>F</a:t>
            </a:r>
            <a:r>
              <a:rPr lang="it-IT" baseline="-25000" dirty="0" err="1"/>
              <a:t>N,z</a:t>
            </a:r>
            <a:endParaRPr lang="it-IT" baseline="-25000" dirty="0"/>
          </a:p>
          <a:p>
            <a:endParaRPr lang="it-IT" baseline="-25000" dirty="0"/>
          </a:p>
          <a:p>
            <a:endParaRPr lang="it-IT" baseline="-25000" dirty="0"/>
          </a:p>
          <a:p>
            <a:endParaRPr lang="it-IT" dirty="0"/>
          </a:p>
          <a:p>
            <a:endParaRPr lang="it-IT" baseline="-25000" dirty="0"/>
          </a:p>
          <a:p>
            <a:endParaRPr lang="it-IT" baseline="-25000" dirty="0"/>
          </a:p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05F6A2-B92E-A142-20A4-3F8ABA3A280B}"/>
                  </a:ext>
                </a:extLst>
              </p:cNvPr>
              <p:cNvSpPr txBox="1"/>
              <p:nvPr/>
            </p:nvSpPr>
            <p:spPr>
              <a:xfrm>
                <a:off x="8798814" y="1394266"/>
                <a:ext cx="212244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𝐹𝑖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=−</m:t>
                      </m:r>
                      <m:bar>
                        <m:barPr>
                          <m:pos m:val="top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𝑟𝑖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(</m:t>
                      </m:r>
                      <m:d>
                        <m:dPr>
                          <m:begChr m:val="{"/>
                          <m:endChr m:val="}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05F6A2-B92E-A142-20A4-3F8ABA3A2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814" y="1394266"/>
                <a:ext cx="2122445" cy="307777"/>
              </a:xfrm>
              <a:prstGeom prst="rect">
                <a:avLst/>
              </a:prstGeom>
              <a:blipFill>
                <a:blip r:embed="rId3"/>
                <a:stretch>
                  <a:fillRect b="-3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1A45B56-02FD-3BB3-6DE0-04BEED10C507}"/>
              </a:ext>
            </a:extLst>
          </p:cNvPr>
          <p:cNvSpPr txBox="1"/>
          <p:nvPr/>
        </p:nvSpPr>
        <p:spPr>
          <a:xfrm>
            <a:off x="3072086" y="1065528"/>
            <a:ext cx="25242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400" dirty="0">
                <a:latin typeface="Arial Narrow" panose="020B0606020202030204" pitchFamily="34" charset="0"/>
              </a:rPr>
              <a:t>A single vector F specifies the force acting on every atom in the system. This vector lists the force on each atom in the x-, y-, and z- directions</a:t>
            </a:r>
          </a:p>
          <a:p>
            <a:pPr algn="just"/>
            <a:endParaRPr lang="en-GB" sz="1400" dirty="0">
              <a:latin typeface="Arial Narrow" panose="020B0606020202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17ADD5-E952-679C-D97E-2BF2F5F61ED2}"/>
              </a:ext>
            </a:extLst>
          </p:cNvPr>
          <p:cNvSpPr txBox="1"/>
          <p:nvPr/>
        </p:nvSpPr>
        <p:spPr>
          <a:xfrm>
            <a:off x="8249050" y="1883343"/>
            <a:ext cx="35949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 Narrow" panose="020B0606020202030204" pitchFamily="34" charset="0"/>
              </a:rPr>
              <a:t>Force on atom </a:t>
            </a:r>
            <a:r>
              <a:rPr lang="en-GB" dirty="0" err="1">
                <a:latin typeface="Arial Narrow" panose="020B0606020202030204" pitchFamily="34" charset="0"/>
              </a:rPr>
              <a:t>i</a:t>
            </a:r>
            <a:r>
              <a:rPr lang="en-GB" dirty="0">
                <a:latin typeface="Arial Narrow" panose="020B0606020202030204" pitchFamily="34" charset="0"/>
              </a:rPr>
              <a:t> is given by derivatives of U (total potential energy) with respect to the atom’s coordinates xi, </a:t>
            </a:r>
            <a:r>
              <a:rPr lang="en-GB" dirty="0" err="1">
                <a:latin typeface="Arial Narrow" panose="020B0606020202030204" pitchFamily="34" charset="0"/>
              </a:rPr>
              <a:t>yi</a:t>
            </a:r>
            <a:r>
              <a:rPr lang="en-GB" dirty="0">
                <a:latin typeface="Arial Narrow" panose="020B0606020202030204" pitchFamily="34" charset="0"/>
              </a:rPr>
              <a:t>, and zi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8A2761-1AA0-88B2-600C-466ED5F46D0A}"/>
              </a:ext>
            </a:extLst>
          </p:cNvPr>
          <p:cNvSpPr txBox="1"/>
          <p:nvPr/>
        </p:nvSpPr>
        <p:spPr>
          <a:xfrm>
            <a:off x="8465043" y="3373669"/>
            <a:ext cx="6816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vᵢ(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t+Δt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/2) = vᵢ(t−Δt/2) + [Fᵢ(t)/mᵢ]Δt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914171-2195-7CB2-4825-A198CBCD1537}"/>
              </a:ext>
            </a:extLst>
          </p:cNvPr>
          <p:cNvSpPr txBox="1"/>
          <p:nvPr/>
        </p:nvSpPr>
        <p:spPr>
          <a:xfrm>
            <a:off x="8249050" y="3949309"/>
            <a:ext cx="3573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latin typeface="Arial Narrow" panose="020B0606020202030204" pitchFamily="34" charset="0"/>
              </a:rPr>
              <a:t>leap-frog integrator to upload the velocities after the Force calculation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3396CC-505E-A650-9BFC-1B0A0C4842ED}"/>
              </a:ext>
            </a:extLst>
          </p:cNvPr>
          <p:cNvSpPr txBox="1"/>
          <p:nvPr/>
        </p:nvSpPr>
        <p:spPr>
          <a:xfrm>
            <a:off x="218628" y="1285947"/>
            <a:ext cx="2122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 err="1">
                <a:latin typeface="Arial Narrow" panose="020B0606020202030204" pitchFamily="34" charset="0"/>
              </a:rPr>
              <a:t>Coordinates</a:t>
            </a:r>
            <a:r>
              <a:rPr lang="it-IT" sz="1400" dirty="0">
                <a:latin typeface="Arial Narrow" panose="020B0606020202030204" pitchFamily="34" charset="0"/>
              </a:rPr>
              <a:t> (</a:t>
            </a:r>
            <a:r>
              <a:rPr lang="it-IT" sz="1400" dirty="0" err="1">
                <a:latin typeface="Arial Narrow" panose="020B0606020202030204" pitchFamily="34" charset="0"/>
              </a:rPr>
              <a:t>crystallographic</a:t>
            </a:r>
            <a:r>
              <a:rPr lang="it-IT" sz="1400" dirty="0">
                <a:latin typeface="Arial Narrow" panose="020B0606020202030204" pitchFamily="34" charset="0"/>
              </a:rPr>
              <a:t> </a:t>
            </a:r>
            <a:r>
              <a:rPr lang="it-IT" sz="1400" dirty="0" err="1">
                <a:latin typeface="Arial Narrow" panose="020B0606020202030204" pitchFamily="34" charset="0"/>
              </a:rPr>
              <a:t>structure</a:t>
            </a:r>
            <a:r>
              <a:rPr lang="it-IT" sz="1200" dirty="0">
                <a:latin typeface="Arial Narrow" panose="020B0606020202030204" pitchFamily="34" charset="0"/>
              </a:rPr>
              <a:t>)</a:t>
            </a:r>
            <a:endParaRPr lang="en-GB" sz="1200" dirty="0">
              <a:latin typeface="Arial Narrow" panose="020B0606020202030204" pitchFamily="34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CB569FA-48B9-75D5-676A-0B39AB39DB0D}"/>
              </a:ext>
            </a:extLst>
          </p:cNvPr>
          <p:cNvCxnSpPr>
            <a:stCxn id="33" idx="2"/>
          </p:cNvCxnSpPr>
          <p:nvPr/>
        </p:nvCxnSpPr>
        <p:spPr>
          <a:xfrm flipH="1">
            <a:off x="1276624" y="1809167"/>
            <a:ext cx="3227" cy="319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6C66381-9C74-1AC5-EC9E-7527E13328C5}"/>
              </a:ext>
            </a:extLst>
          </p:cNvPr>
          <p:cNvSpPr/>
          <p:nvPr/>
        </p:nvSpPr>
        <p:spPr>
          <a:xfrm>
            <a:off x="8029194" y="3052171"/>
            <a:ext cx="3944178" cy="161907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8A7771-8C34-6F06-321A-BA7D3FDC8FA0}"/>
              </a:ext>
            </a:extLst>
          </p:cNvPr>
          <p:cNvSpPr txBox="1"/>
          <p:nvPr/>
        </p:nvSpPr>
        <p:spPr>
          <a:xfrm>
            <a:off x="3550554" y="4072208"/>
            <a:ext cx="284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V=</a:t>
            </a:r>
            <a:endParaRPr lang="en-GB" dirty="0"/>
          </a:p>
        </p:txBody>
      </p:sp>
      <p:sp>
        <p:nvSpPr>
          <p:cNvPr id="39" name="Double Bracket 38">
            <a:extLst>
              <a:ext uri="{FF2B5EF4-FFF2-40B4-BE49-F238E27FC236}">
                <a16:creationId xmlns:a16="http://schemas.microsoft.com/office/drawing/2014/main" id="{1AD9A822-4622-8924-F5A9-4156D5F8B1D2}"/>
              </a:ext>
            </a:extLst>
          </p:cNvPr>
          <p:cNvSpPr/>
          <p:nvPr/>
        </p:nvSpPr>
        <p:spPr>
          <a:xfrm>
            <a:off x="3964565" y="2347564"/>
            <a:ext cx="739303" cy="418795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EDD457-B9E0-C33F-9B6E-4D1A35862127}"/>
              </a:ext>
            </a:extLst>
          </p:cNvPr>
          <p:cNvSpPr txBox="1"/>
          <p:nvPr/>
        </p:nvSpPr>
        <p:spPr>
          <a:xfrm>
            <a:off x="4084696" y="2416461"/>
            <a:ext cx="8778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</a:t>
            </a:r>
            <a:r>
              <a:rPr lang="it-IT" baseline="-25000" dirty="0"/>
              <a:t>1,x</a:t>
            </a:r>
          </a:p>
          <a:p>
            <a:r>
              <a:rPr lang="it-IT" dirty="0"/>
              <a:t>V</a:t>
            </a:r>
            <a:r>
              <a:rPr lang="it-IT" baseline="-25000" dirty="0"/>
              <a:t>1,y</a:t>
            </a:r>
          </a:p>
          <a:p>
            <a:r>
              <a:rPr lang="it-IT" dirty="0"/>
              <a:t>V</a:t>
            </a:r>
            <a:r>
              <a:rPr lang="it-IT" baseline="-25000" dirty="0"/>
              <a:t>1,z</a:t>
            </a:r>
          </a:p>
          <a:p>
            <a:r>
              <a:rPr lang="it-IT" dirty="0"/>
              <a:t>V</a:t>
            </a:r>
            <a:r>
              <a:rPr lang="it-IT" baseline="-25000" dirty="0"/>
              <a:t>2,x</a:t>
            </a:r>
          </a:p>
          <a:p>
            <a:r>
              <a:rPr lang="it-IT" dirty="0"/>
              <a:t>V</a:t>
            </a:r>
            <a:r>
              <a:rPr lang="it-IT" baseline="-25000" dirty="0"/>
              <a:t>2,y</a:t>
            </a:r>
          </a:p>
          <a:p>
            <a:r>
              <a:rPr lang="it-IT" dirty="0"/>
              <a:t>V</a:t>
            </a:r>
            <a:r>
              <a:rPr lang="it-IT" baseline="-25000" dirty="0"/>
              <a:t>2,z</a:t>
            </a:r>
          </a:p>
          <a:p>
            <a:r>
              <a:rPr lang="it-IT" dirty="0"/>
              <a:t>V</a:t>
            </a:r>
            <a:r>
              <a:rPr lang="it-IT" baseline="-25000" dirty="0"/>
              <a:t>3,x</a:t>
            </a:r>
          </a:p>
          <a:p>
            <a:r>
              <a:rPr lang="it-IT" dirty="0"/>
              <a:t>V</a:t>
            </a:r>
            <a:r>
              <a:rPr lang="it-IT" baseline="-25000" dirty="0"/>
              <a:t>3,y</a:t>
            </a:r>
          </a:p>
          <a:p>
            <a:r>
              <a:rPr lang="it-IT" dirty="0"/>
              <a:t>V</a:t>
            </a:r>
            <a:r>
              <a:rPr lang="it-IT" baseline="-25000" dirty="0"/>
              <a:t>3,z</a:t>
            </a:r>
          </a:p>
          <a:p>
            <a:r>
              <a:rPr lang="it-IT" baseline="-25000" dirty="0"/>
              <a:t>.</a:t>
            </a:r>
          </a:p>
          <a:p>
            <a:r>
              <a:rPr lang="it-IT" baseline="-25000" dirty="0"/>
              <a:t>.</a:t>
            </a:r>
          </a:p>
          <a:p>
            <a:r>
              <a:rPr lang="it-IT" baseline="-25000" dirty="0"/>
              <a:t>.</a:t>
            </a:r>
          </a:p>
          <a:p>
            <a:r>
              <a:rPr lang="it-IT" dirty="0" err="1"/>
              <a:t>V</a:t>
            </a:r>
            <a:r>
              <a:rPr lang="it-IT" baseline="-25000" dirty="0" err="1"/>
              <a:t>N,x</a:t>
            </a:r>
            <a:endParaRPr lang="it-IT" baseline="-25000" dirty="0"/>
          </a:p>
          <a:p>
            <a:r>
              <a:rPr lang="it-IT" dirty="0" err="1"/>
              <a:t>V</a:t>
            </a:r>
            <a:r>
              <a:rPr lang="it-IT" baseline="-25000" dirty="0" err="1"/>
              <a:t>N,y</a:t>
            </a:r>
            <a:endParaRPr lang="it-IT" baseline="-25000" dirty="0"/>
          </a:p>
          <a:p>
            <a:r>
              <a:rPr lang="it-IT" dirty="0" err="1"/>
              <a:t>V</a:t>
            </a:r>
            <a:r>
              <a:rPr lang="it-IT" baseline="-25000" dirty="0" err="1"/>
              <a:t>N,z</a:t>
            </a:r>
            <a:endParaRPr lang="it-IT" baseline="-25000" dirty="0"/>
          </a:p>
          <a:p>
            <a:endParaRPr lang="it-IT" baseline="-25000" dirty="0"/>
          </a:p>
          <a:p>
            <a:endParaRPr lang="it-IT" baseline="-25000" dirty="0"/>
          </a:p>
          <a:p>
            <a:endParaRPr lang="it-IT" dirty="0"/>
          </a:p>
          <a:p>
            <a:endParaRPr lang="it-IT" baseline="-25000" dirty="0"/>
          </a:p>
          <a:p>
            <a:endParaRPr lang="it-IT" baseline="-25000" dirty="0"/>
          </a:p>
          <a:p>
            <a:endParaRPr lang="it-IT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979D4D-698F-3B04-EBCB-D1C58E95E4B3}"/>
              </a:ext>
            </a:extLst>
          </p:cNvPr>
          <p:cNvSpPr txBox="1"/>
          <p:nvPr/>
        </p:nvSpPr>
        <p:spPr>
          <a:xfrm>
            <a:off x="6391031" y="5081651"/>
            <a:ext cx="4389704" cy="1477328"/>
          </a:xfrm>
          <a:prstGeom prst="rect">
            <a:avLst/>
          </a:prstGeom>
          <a:solidFill>
            <a:srgbClr val="E6BCB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it-IT" dirty="0">
                <a:latin typeface="Arial Narrow" panose="020B0606020202030204" pitchFamily="34" charset="0"/>
              </a:rPr>
              <a:t>In the </a:t>
            </a:r>
            <a:r>
              <a:rPr lang="it-IT" dirty="0" err="1">
                <a:latin typeface="Arial Narrow" panose="020B0606020202030204" pitchFamily="34" charset="0"/>
              </a:rPr>
              <a:t>trajectory</a:t>
            </a:r>
            <a:r>
              <a:rPr lang="it-IT" dirty="0">
                <a:latin typeface="Arial Narrow" panose="020B0606020202030204" pitchFamily="34" charset="0"/>
              </a:rPr>
              <a:t> file (.</a:t>
            </a:r>
            <a:r>
              <a:rPr lang="it-IT" dirty="0" err="1">
                <a:latin typeface="Arial Narrow" panose="020B0606020202030204" pitchFamily="34" charset="0"/>
              </a:rPr>
              <a:t>trr</a:t>
            </a:r>
            <a:r>
              <a:rPr lang="it-IT" dirty="0">
                <a:latin typeface="Arial Narrow" panose="020B0606020202030204" pitchFamily="34" charset="0"/>
              </a:rPr>
              <a:t>), for </a:t>
            </a:r>
            <a:r>
              <a:rPr lang="it-IT" dirty="0" err="1">
                <a:latin typeface="Arial Narrow" panose="020B0606020202030204" pitchFamily="34" charset="0"/>
              </a:rPr>
              <a:t>each</a:t>
            </a:r>
            <a:r>
              <a:rPr lang="it-IT" dirty="0">
                <a:latin typeface="Arial Narrow" panose="020B0606020202030204" pitchFamily="34" charset="0"/>
              </a:rPr>
              <a:t> time-step </a:t>
            </a:r>
            <a:r>
              <a:rPr lang="it-IT" dirty="0" err="1">
                <a:latin typeface="Arial Narrow" panose="020B0606020202030204" pitchFamily="34" charset="0"/>
              </a:rPr>
              <a:t>we</a:t>
            </a:r>
            <a:r>
              <a:rPr lang="it-IT" dirty="0">
                <a:latin typeface="Arial Narrow" panose="020B0606020202030204" pitchFamily="34" charset="0"/>
              </a:rPr>
              <a:t> </a:t>
            </a:r>
            <a:r>
              <a:rPr lang="it-IT" dirty="0" err="1">
                <a:latin typeface="Arial Narrow" panose="020B0606020202030204" pitchFamily="34" charset="0"/>
              </a:rPr>
              <a:t>have</a:t>
            </a:r>
            <a:r>
              <a:rPr lang="it-IT" dirty="0">
                <a:latin typeface="Arial Narrow" panose="020B0606020202030204" pitchFamily="34" charset="0"/>
              </a:rPr>
              <a:t> 3 </a:t>
            </a:r>
            <a:r>
              <a:rPr lang="it-IT" dirty="0" err="1">
                <a:latin typeface="Arial Narrow" panose="020B0606020202030204" pitchFamily="34" charset="0"/>
              </a:rPr>
              <a:t>matrices</a:t>
            </a:r>
            <a:r>
              <a:rPr lang="it-IT" dirty="0">
                <a:latin typeface="Arial Narrow" panose="020B0606020202030204" pitchFamily="34" charset="0"/>
              </a:rPr>
              <a:t> of </a:t>
            </a:r>
            <a:r>
              <a:rPr lang="it-IT" dirty="0" err="1">
                <a:latin typeface="Arial Narrow" panose="020B0606020202030204" pitchFamily="34" charset="0"/>
              </a:rPr>
              <a:t>lenght</a:t>
            </a:r>
            <a:r>
              <a:rPr lang="it-IT" dirty="0">
                <a:latin typeface="Arial Narrow" panose="020B0606020202030204" pitchFamily="34" charset="0"/>
              </a:rPr>
              <a:t> 3N in </a:t>
            </a:r>
            <a:r>
              <a:rPr lang="it-IT" dirty="0" err="1">
                <a:latin typeface="Arial Narrow" panose="020B0606020202030204" pitchFamily="34" charset="0"/>
              </a:rPr>
              <a:t>binary</a:t>
            </a:r>
            <a:r>
              <a:rPr lang="it-IT" dirty="0">
                <a:latin typeface="Arial Narrow" panose="020B0606020202030204" pitchFamily="34" charset="0"/>
              </a:rPr>
              <a:t> format</a:t>
            </a:r>
          </a:p>
          <a:p>
            <a:pPr algn="ctr"/>
            <a:r>
              <a:rPr lang="it-IT" b="1" dirty="0" err="1">
                <a:latin typeface="Arial Narrow" panose="020B0606020202030204" pitchFamily="34" charset="0"/>
              </a:rPr>
              <a:t>Coordinates</a:t>
            </a:r>
            <a:r>
              <a:rPr lang="it-IT" b="1" dirty="0">
                <a:latin typeface="Arial Narrow" panose="020B0606020202030204" pitchFamily="34" charset="0"/>
              </a:rPr>
              <a:t> (X)</a:t>
            </a:r>
          </a:p>
          <a:p>
            <a:pPr algn="ctr"/>
            <a:r>
              <a:rPr lang="it-IT" b="1" dirty="0" err="1">
                <a:latin typeface="Arial Narrow" panose="020B0606020202030204" pitchFamily="34" charset="0"/>
              </a:rPr>
              <a:t>Forces</a:t>
            </a:r>
            <a:r>
              <a:rPr lang="it-IT" b="1" dirty="0">
                <a:latin typeface="Arial Narrow" panose="020B0606020202030204" pitchFamily="34" charset="0"/>
              </a:rPr>
              <a:t> (F) </a:t>
            </a:r>
          </a:p>
          <a:p>
            <a:pPr algn="ctr"/>
            <a:r>
              <a:rPr lang="it-IT" b="1" dirty="0" err="1">
                <a:latin typeface="Arial Narrow" panose="020B0606020202030204" pitchFamily="34" charset="0"/>
              </a:rPr>
              <a:t>Velocities</a:t>
            </a:r>
            <a:r>
              <a:rPr lang="it-IT" b="1" dirty="0">
                <a:latin typeface="Arial Narrow" panose="020B0606020202030204" pitchFamily="34" charset="0"/>
              </a:rPr>
              <a:t> (V)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D24A31-4C01-9E15-BE0F-3510D4B8E006}"/>
              </a:ext>
            </a:extLst>
          </p:cNvPr>
          <p:cNvSpPr txBox="1"/>
          <p:nvPr/>
        </p:nvSpPr>
        <p:spPr>
          <a:xfrm>
            <a:off x="5082651" y="3204392"/>
            <a:ext cx="26396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>
                <a:latin typeface="Arial Narrow" panose="020B0606020202030204" pitchFamily="34" charset="0"/>
              </a:rPr>
              <a:t>Velocities and </a:t>
            </a:r>
            <a:r>
              <a:rPr lang="it-IT" sz="1600" dirty="0" err="1">
                <a:latin typeface="Arial Narrow" panose="020B0606020202030204" pitchFamily="34" charset="0"/>
              </a:rPr>
              <a:t>forces</a:t>
            </a:r>
            <a:r>
              <a:rPr lang="it-IT" sz="1600" dirty="0">
                <a:latin typeface="Arial Narrow" panose="020B0606020202030204" pitchFamily="34" charset="0"/>
              </a:rPr>
              <a:t> for </a:t>
            </a:r>
            <a:r>
              <a:rPr lang="it-IT" sz="1600" dirty="0" err="1">
                <a:latin typeface="Arial Narrow" panose="020B0606020202030204" pitchFamily="34" charset="0"/>
              </a:rPr>
              <a:t>each</a:t>
            </a:r>
            <a:r>
              <a:rPr lang="it-IT" sz="1600" dirty="0">
                <a:latin typeface="Arial Narrow" panose="020B0606020202030204" pitchFamily="34" charset="0"/>
              </a:rPr>
              <a:t> </a:t>
            </a:r>
            <a:r>
              <a:rPr lang="it-IT" sz="1600" dirty="0" err="1">
                <a:latin typeface="Arial Narrow" panose="020B0606020202030204" pitchFamily="34" charset="0"/>
              </a:rPr>
              <a:t>atom</a:t>
            </a:r>
            <a:r>
              <a:rPr lang="it-IT" sz="1600" dirty="0">
                <a:latin typeface="Arial Narrow" panose="020B0606020202030204" pitchFamily="34" charset="0"/>
              </a:rPr>
              <a:t> </a:t>
            </a:r>
            <a:r>
              <a:rPr lang="it-IT" sz="1600" dirty="0" err="1">
                <a:latin typeface="Arial Narrow" panose="020B0606020202030204" pitchFamily="34" charset="0"/>
              </a:rPr>
              <a:t>give</a:t>
            </a:r>
            <a:r>
              <a:rPr lang="it-IT" sz="1600" dirty="0">
                <a:latin typeface="Arial Narrow" panose="020B0606020202030204" pitchFamily="34" charset="0"/>
              </a:rPr>
              <a:t> </a:t>
            </a:r>
            <a:r>
              <a:rPr lang="it-IT" sz="1600" dirty="0" err="1">
                <a:latin typeface="Arial Narrow" panose="020B0606020202030204" pitchFamily="34" charset="0"/>
              </a:rPr>
              <a:t>us</a:t>
            </a:r>
            <a:r>
              <a:rPr lang="it-IT" sz="1600" dirty="0">
                <a:latin typeface="Arial Narrow" panose="020B0606020202030204" pitchFamily="34" charset="0"/>
              </a:rPr>
              <a:t> the </a:t>
            </a:r>
            <a:r>
              <a:rPr lang="it-IT" sz="1600" dirty="0" err="1">
                <a:latin typeface="Arial Narrow" panose="020B0606020202030204" pitchFamily="34" charset="0"/>
              </a:rPr>
              <a:t>direction</a:t>
            </a:r>
            <a:r>
              <a:rPr lang="it-IT" sz="1600" dirty="0">
                <a:latin typeface="Arial Narrow" panose="020B0606020202030204" pitchFamily="34" charset="0"/>
              </a:rPr>
              <a:t> of the </a:t>
            </a:r>
            <a:r>
              <a:rPr lang="it-IT" sz="1600" dirty="0" err="1">
                <a:latin typeface="Arial Narrow" panose="020B0606020202030204" pitchFamily="34" charset="0"/>
              </a:rPr>
              <a:t>movement</a:t>
            </a:r>
            <a:r>
              <a:rPr lang="it-IT" sz="1600" dirty="0">
                <a:latin typeface="Arial Narrow" panose="020B0606020202030204" pitchFamily="34" charset="0"/>
              </a:rPr>
              <a:t>, </a:t>
            </a:r>
            <a:r>
              <a:rPr lang="it-IT" sz="1600" dirty="0" err="1">
                <a:latin typeface="Arial Narrow" panose="020B0606020202030204" pitchFamily="34" charset="0"/>
              </a:rPr>
              <a:t>attraction</a:t>
            </a:r>
            <a:r>
              <a:rPr lang="it-IT" sz="1600" dirty="0">
                <a:latin typeface="Arial Narrow" panose="020B0606020202030204" pitchFamily="34" charset="0"/>
              </a:rPr>
              <a:t> or </a:t>
            </a:r>
            <a:r>
              <a:rPr lang="it-IT" sz="1600" dirty="0" err="1">
                <a:latin typeface="Arial Narrow" panose="020B0606020202030204" pitchFamily="34" charset="0"/>
              </a:rPr>
              <a:t>repulsion</a:t>
            </a:r>
            <a:r>
              <a:rPr lang="it-IT" sz="1600" dirty="0">
                <a:latin typeface="Arial Narrow" panose="020B0606020202030204" pitchFamily="34" charset="0"/>
              </a:rPr>
              <a:t>. </a:t>
            </a:r>
            <a:endParaRPr lang="en-GB" sz="1600" dirty="0">
              <a:latin typeface="Arial Narrow" panose="020B0606020202030204" pitchFamily="34" charset="0"/>
            </a:endParaRPr>
          </a:p>
        </p:txBody>
      </p:sp>
      <p:pic>
        <p:nvPicPr>
          <p:cNvPr id="5" name="Immagine 10">
            <a:extLst>
              <a:ext uri="{FF2B5EF4-FFF2-40B4-BE49-F238E27FC236}">
                <a16:creationId xmlns:a16="http://schemas.microsoft.com/office/drawing/2014/main" id="{2A25CA41-4F59-8CAC-BBA3-A79819BBB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17" y="73580"/>
            <a:ext cx="1018720" cy="7580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6189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B086EF8-3625-C1AB-0932-431785253DE1}"/>
              </a:ext>
            </a:extLst>
          </p:cNvPr>
          <p:cNvSpPr txBox="1"/>
          <p:nvPr/>
        </p:nvSpPr>
        <p:spPr>
          <a:xfrm>
            <a:off x="1796217" y="1422801"/>
            <a:ext cx="8020445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Challenges: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Deal with dimensionality reduction!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Find the shorter time window which yields to the best predictions!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Enable Super Resolution!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Explain Predictions using attention maps!</a:t>
            </a:r>
          </a:p>
        </p:txBody>
      </p:sp>
    </p:spTree>
    <p:extLst>
      <p:ext uri="{BB962C8B-B14F-4D97-AF65-F5344CB8AC3E}">
        <p14:creationId xmlns:p14="http://schemas.microsoft.com/office/powerpoint/2010/main" val="1823310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488</Words>
  <Application>Microsoft Macintosh PowerPoint</Application>
  <PresentationFormat>Widescreen</PresentationFormat>
  <Paragraphs>96</Paragraphs>
  <Slides>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5</vt:i4>
      </vt:variant>
    </vt:vector>
  </HeadingPairs>
  <TitlesOfParts>
    <vt:vector size="13" baseType="lpstr">
      <vt:lpstr>Aharoni</vt:lpstr>
      <vt:lpstr>Aptos</vt:lpstr>
      <vt:lpstr>Aptos Display</vt:lpstr>
      <vt:lpstr>Arial</vt:lpstr>
      <vt:lpstr>Arial Narrow</vt:lpstr>
      <vt:lpstr>Cambria Math</vt:lpstr>
      <vt:lpstr>Tema di Office</vt:lpstr>
      <vt:lpstr>1_Tema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 ADORNETTO</dc:creator>
  <cp:lastModifiedBy>CARLO ADORNETTO</cp:lastModifiedBy>
  <cp:revision>2</cp:revision>
  <dcterms:created xsi:type="dcterms:W3CDTF">2025-11-16T19:47:56Z</dcterms:created>
  <dcterms:modified xsi:type="dcterms:W3CDTF">2025-11-16T19:57:35Z</dcterms:modified>
</cp:coreProperties>
</file>